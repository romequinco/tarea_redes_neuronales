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16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566928"/>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384048"/>
          </a:xfrm>
          <a:prstGeom prst="rect">
            <a:avLst/>
          </a:prstGeom>
          <a:noFill/>
        </p:spPr>
        <p:txBody>
          <a:bodyPr wrap="square">
            <a:normAutofit/>
          </a:bodyPr>
          <a:lstStyle/>
          <a:p>
            <a:pPr algn="l"/>
            <a:r>
              <a:rPr sz="1100" b="0" i="0">
                <a:solidFill>
                  <a:srgbClr val="7A8FA5"/>
                </a:solidFill>
                <a:latin typeface="Consolas"/>
              </a:rPr>
              <a:t>SP500  ·  Redes Neuronales  ·  Taller B3  ·  MIAX 2025–2026</a:t>
            </a:r>
          </a:p>
        </p:txBody>
      </p:sp>
      <p:sp>
        <p:nvSpPr>
          <p:cNvPr id="5" name="TextBox 4"/>
          <p:cNvSpPr txBox="1"/>
          <p:nvPr/>
        </p:nvSpPr>
        <p:spPr>
          <a:xfrm>
            <a:off x="10241280" y="91440"/>
            <a:ext cx="1828800" cy="384048"/>
          </a:xfrm>
          <a:prstGeom prst="rect">
            <a:avLst/>
          </a:prstGeom>
          <a:noFill/>
        </p:spPr>
        <p:txBody>
          <a:bodyPr wrap="square">
            <a:normAutofit/>
          </a:bodyPr>
          <a:lstStyle/>
          <a:p>
            <a:pPr algn="r"/>
            <a:r>
              <a:rPr sz="1000" b="0" i="0">
                <a:solidFill>
                  <a:srgbClr val="7A8FA5"/>
                </a:solidFill>
                <a:latin typeface="Consolas"/>
              </a:rPr>
              <a:t>20 · 05 · 2026</a:t>
            </a:r>
          </a:p>
        </p:txBody>
      </p:sp>
      <p:sp>
        <p:nvSpPr>
          <p:cNvPr id="6" name="TextBox 5"/>
          <p:cNvSpPr txBox="1"/>
          <p:nvPr/>
        </p:nvSpPr>
        <p:spPr>
          <a:xfrm>
            <a:off x="640080" y="685800"/>
            <a:ext cx="10881360" cy="1371600"/>
          </a:xfrm>
          <a:prstGeom prst="rect">
            <a:avLst/>
          </a:prstGeom>
          <a:noFill/>
        </p:spPr>
        <p:txBody>
          <a:bodyPr wrap="square">
            <a:normAutofit/>
          </a:bodyPr>
          <a:lstStyle/>
          <a:p>
            <a:pPr algn="ctr"/>
            <a:r>
              <a:rPr sz="3600" b="1" i="0">
                <a:solidFill>
                  <a:srgbClr val="16202E"/>
                </a:solidFill>
                <a:latin typeface="Calibri"/>
              </a:rPr>
              <a:t>Taller 4 del Bloque 3
Redes Neuronales</a:t>
            </a:r>
          </a:p>
        </p:txBody>
      </p:sp>
      <p:sp>
        <p:nvSpPr>
          <p:cNvPr id="7" name="Rectangle 6"/>
          <p:cNvSpPr/>
          <p:nvPr/>
        </p:nvSpPr>
        <p:spPr>
          <a:xfrm>
            <a:off x="4114800" y="2103120"/>
            <a:ext cx="3959352" cy="22860"/>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10881360" cy="274320"/>
          </a:xfrm>
          <a:prstGeom prst="rect">
            <a:avLst/>
          </a:prstGeom>
          <a:noFill/>
        </p:spPr>
        <p:txBody>
          <a:bodyPr wrap="square">
            <a:normAutofit/>
          </a:bodyPr>
          <a:lstStyle/>
          <a:p>
            <a:pPr algn="ctr"/>
            <a:r>
              <a:rPr sz="1200" b="0" i="0">
                <a:solidFill>
                  <a:srgbClr val="4A5568"/>
                </a:solidFill>
                <a:latin typeface="Calibri"/>
              </a:rPr>
              <a:t>Fernando Dapena Tauste  ·  Oscar Romero Quincoces  ·  Daniel García López</a:t>
            </a:r>
          </a:p>
        </p:txBody>
      </p:sp>
      <p:sp>
        <p:nvSpPr>
          <p:cNvPr id="9" name="TextBox 8"/>
          <p:cNvSpPr txBox="1"/>
          <p:nvPr/>
        </p:nvSpPr>
        <p:spPr>
          <a:xfrm>
            <a:off x="640080" y="2487168"/>
            <a:ext cx="10881360" cy="256032"/>
          </a:xfrm>
          <a:prstGeom prst="rect">
            <a:avLst/>
          </a:prstGeom>
          <a:noFill/>
        </p:spPr>
        <p:txBody>
          <a:bodyPr wrap="square">
            <a:normAutofit/>
          </a:bodyPr>
          <a:lstStyle/>
          <a:p>
            <a:pPr algn="ctr"/>
            <a:r>
              <a:rPr sz="1050" b="0" i="1">
                <a:solidFill>
                  <a:srgbClr val="7A8FA5"/>
                </a:solidFill>
                <a:latin typeface="Calibri"/>
              </a:rPr>
              <a:t>Pipeline · 16 arquitecturas · Preprocesado avanzado (FFD) · Carteras 2025 ejecutadas</a:t>
            </a:r>
          </a:p>
        </p:txBody>
      </p:sp>
      <p:sp>
        <p:nvSpPr>
          <p:cNvPr id="10" name="Rectangle 9"/>
          <p:cNvSpPr/>
          <p:nvPr/>
        </p:nvSpPr>
        <p:spPr>
          <a:xfrm>
            <a:off x="640080" y="2834640"/>
            <a:ext cx="5394960" cy="822960"/>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834640"/>
            <a:ext cx="36576" cy="822960"/>
          </a:xfrm>
          <a:prstGeom prst="rect">
            <a:avLst/>
          </a:prstGeom>
          <a:solidFill>
            <a:srgbClr val="5B8E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880360"/>
            <a:ext cx="457200" cy="182880"/>
          </a:xfrm>
          <a:prstGeom prst="rect">
            <a:avLst/>
          </a:prstGeom>
          <a:noFill/>
        </p:spPr>
        <p:txBody>
          <a:bodyPr wrap="square">
            <a:normAutofit/>
          </a:bodyPr>
          <a:lstStyle/>
          <a:p>
            <a:pPr algn="l"/>
            <a:r>
              <a:rPr sz="800" b="1" i="0">
                <a:solidFill>
                  <a:srgbClr val="7A8FA5"/>
                </a:solidFill>
                <a:latin typeface="Consolas"/>
              </a:rPr>
              <a:t>01</a:t>
            </a:r>
          </a:p>
        </p:txBody>
      </p:sp>
      <p:sp>
        <p:nvSpPr>
          <p:cNvPr id="13" name="TextBox 12"/>
          <p:cNvSpPr txBox="1"/>
          <p:nvPr/>
        </p:nvSpPr>
        <p:spPr>
          <a:xfrm>
            <a:off x="749808" y="3044952"/>
            <a:ext cx="5212080" cy="256032"/>
          </a:xfrm>
          <a:prstGeom prst="rect">
            <a:avLst/>
          </a:prstGeom>
          <a:noFill/>
        </p:spPr>
        <p:txBody>
          <a:bodyPr wrap="square">
            <a:normAutofit/>
          </a:bodyPr>
          <a:lstStyle/>
          <a:p>
            <a:pPr algn="l"/>
            <a:r>
              <a:rPr sz="1100" b="1" i="0">
                <a:solidFill>
                  <a:srgbClr val="16202E"/>
                </a:solidFill>
                <a:latin typeface="Calibri"/>
              </a:rPr>
              <a:t>Resultado de la Competición</a:t>
            </a:r>
          </a:p>
        </p:txBody>
      </p:sp>
      <p:sp>
        <p:nvSpPr>
          <p:cNvPr id="14" name="TextBox 13"/>
          <p:cNvSpPr txBox="1"/>
          <p:nvPr/>
        </p:nvSpPr>
        <p:spPr>
          <a:xfrm>
            <a:off x="749808" y="3310128"/>
            <a:ext cx="5212080" cy="310896"/>
          </a:xfrm>
          <a:prstGeom prst="rect">
            <a:avLst/>
          </a:prstGeom>
          <a:noFill/>
        </p:spPr>
        <p:txBody>
          <a:bodyPr wrap="square">
            <a:normAutofit/>
          </a:bodyPr>
          <a:lstStyle/>
          <a:p>
            <a:pPr algn="l"/>
            <a:r>
              <a:rPr sz="950" b="0" i="0">
                <a:solidFill>
                  <a:srgbClr val="4A5568"/>
                </a:solidFill>
                <a:latin typeface="Calibri"/>
              </a:rPr>
              <a:t>Matriz 4×4 · V_in irrelevante · NN empata con lineal óptimo</a:t>
            </a:r>
          </a:p>
        </p:txBody>
      </p:sp>
      <p:sp>
        <p:nvSpPr>
          <p:cNvPr id="15" name="Rectangle 14"/>
          <p:cNvSpPr/>
          <p:nvPr/>
        </p:nvSpPr>
        <p:spPr>
          <a:xfrm>
            <a:off x="6144768" y="2834640"/>
            <a:ext cx="5394960" cy="822960"/>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2834640"/>
            <a:ext cx="36576" cy="822960"/>
          </a:xfrm>
          <a:prstGeom prst="rect">
            <a:avLst/>
          </a:prstGeom>
          <a:solidFill>
            <a:srgbClr val="5AA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4496" y="2880360"/>
            <a:ext cx="457200" cy="182880"/>
          </a:xfrm>
          <a:prstGeom prst="rect">
            <a:avLst/>
          </a:prstGeom>
          <a:noFill/>
        </p:spPr>
        <p:txBody>
          <a:bodyPr wrap="square">
            <a:normAutofit/>
          </a:bodyPr>
          <a:lstStyle/>
          <a:p>
            <a:pPr algn="l"/>
            <a:r>
              <a:rPr sz="800" b="1" i="0">
                <a:solidFill>
                  <a:srgbClr val="7A8FA5"/>
                </a:solidFill>
                <a:latin typeface="Consolas"/>
              </a:rPr>
              <a:t>02</a:t>
            </a:r>
          </a:p>
        </p:txBody>
      </p:sp>
      <p:sp>
        <p:nvSpPr>
          <p:cNvPr id="18" name="TextBox 17"/>
          <p:cNvSpPr txBox="1"/>
          <p:nvPr/>
        </p:nvSpPr>
        <p:spPr>
          <a:xfrm>
            <a:off x="6254496" y="3044952"/>
            <a:ext cx="5212080" cy="256032"/>
          </a:xfrm>
          <a:prstGeom prst="rect">
            <a:avLst/>
          </a:prstGeom>
          <a:noFill/>
        </p:spPr>
        <p:txBody>
          <a:bodyPr wrap="square">
            <a:normAutofit/>
          </a:bodyPr>
          <a:lstStyle/>
          <a:p>
            <a:pPr algn="l"/>
            <a:r>
              <a:rPr sz="1100" b="1" i="0">
                <a:solidFill>
                  <a:srgbClr val="16202E"/>
                </a:solidFill>
                <a:latin typeface="Calibri"/>
              </a:rPr>
              <a:t>Reflexión sobre Modelos</a:t>
            </a:r>
          </a:p>
        </p:txBody>
      </p:sp>
      <p:sp>
        <p:nvSpPr>
          <p:cNvPr id="19" name="TextBox 18"/>
          <p:cNvSpPr txBox="1"/>
          <p:nvPr/>
        </p:nvSpPr>
        <p:spPr>
          <a:xfrm>
            <a:off x="6254496" y="3310128"/>
            <a:ext cx="5212080" cy="310896"/>
          </a:xfrm>
          <a:prstGeom prst="rect">
            <a:avLst/>
          </a:prstGeom>
          <a:noFill/>
        </p:spPr>
        <p:txBody>
          <a:bodyPr wrap="square">
            <a:normAutofit/>
          </a:bodyPr>
          <a:lstStyle/>
          <a:p>
            <a:pPr algn="l"/>
            <a:r>
              <a:rPr sz="950" b="0" i="0">
                <a:solidFill>
                  <a:srgbClr val="4A5568"/>
                </a:solidFill>
                <a:latin typeface="Calibri"/>
              </a:rPr>
              <a:t>16 arquitecturas · ΔMAE &lt; 0.0001 · Lineal(V_in=5) ≡ NN en 3/4 horizontes</a:t>
            </a:r>
          </a:p>
        </p:txBody>
      </p:sp>
      <p:sp>
        <p:nvSpPr>
          <p:cNvPr id="20" name="Rectangle 19"/>
          <p:cNvSpPr/>
          <p:nvPr/>
        </p:nvSpPr>
        <p:spPr>
          <a:xfrm>
            <a:off x="640080" y="3767328"/>
            <a:ext cx="5394960" cy="822960"/>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3767328"/>
            <a:ext cx="36576" cy="822960"/>
          </a:xfrm>
          <a:prstGeom prst="rect">
            <a:avLst/>
          </a:prstGeom>
          <a:solidFill>
            <a:srgbClr val="987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813048"/>
            <a:ext cx="457200" cy="182880"/>
          </a:xfrm>
          <a:prstGeom prst="rect">
            <a:avLst/>
          </a:prstGeom>
          <a:noFill/>
        </p:spPr>
        <p:txBody>
          <a:bodyPr wrap="square">
            <a:normAutofit/>
          </a:bodyPr>
          <a:lstStyle/>
          <a:p>
            <a:pPr algn="l"/>
            <a:r>
              <a:rPr sz="800" b="1" i="0">
                <a:solidFill>
                  <a:srgbClr val="7A8FA5"/>
                </a:solidFill>
                <a:latin typeface="Consolas"/>
              </a:rPr>
              <a:t>03</a:t>
            </a:r>
          </a:p>
        </p:txBody>
      </p:sp>
      <p:sp>
        <p:nvSpPr>
          <p:cNvPr id="23" name="TextBox 22"/>
          <p:cNvSpPr txBox="1"/>
          <p:nvPr/>
        </p:nvSpPr>
        <p:spPr>
          <a:xfrm>
            <a:off x="749808" y="3977640"/>
            <a:ext cx="5212080" cy="256032"/>
          </a:xfrm>
          <a:prstGeom prst="rect">
            <a:avLst/>
          </a:prstGeom>
          <a:noFill/>
        </p:spPr>
        <p:txBody>
          <a:bodyPr wrap="square">
            <a:normAutofit/>
          </a:bodyPr>
          <a:lstStyle/>
          <a:p>
            <a:pPr algn="l"/>
            <a:r>
              <a:rPr sz="1100" b="1" i="0">
                <a:solidFill>
                  <a:srgbClr val="16202E"/>
                </a:solidFill>
                <a:latin typeface="Calibri"/>
              </a:rPr>
              <a:t>Preprocesado Avanzado — FFD</a:t>
            </a:r>
          </a:p>
        </p:txBody>
      </p:sp>
      <p:sp>
        <p:nvSpPr>
          <p:cNvPr id="24" name="TextBox 23"/>
          <p:cNvSpPr txBox="1"/>
          <p:nvPr/>
        </p:nvSpPr>
        <p:spPr>
          <a:xfrm>
            <a:off x="749808" y="4242816"/>
            <a:ext cx="5212080" cy="310896"/>
          </a:xfrm>
          <a:prstGeom prst="rect">
            <a:avLst/>
          </a:prstGeom>
          <a:noFill/>
        </p:spPr>
        <p:txBody>
          <a:bodyPr wrap="square">
            <a:normAutofit/>
          </a:bodyPr>
          <a:lstStyle/>
          <a:p>
            <a:pPr algn="l"/>
            <a:r>
              <a:rPr sz="950" b="0" i="0">
                <a:solidFill>
                  <a:srgbClr val="4A5568"/>
                </a:solidFill>
                <a:latin typeface="Calibri"/>
              </a:rPr>
              <a:t>d óptimo = 0.2 · −8.9% en V_out=1d · empeora en V_out=30d</a:t>
            </a:r>
          </a:p>
        </p:txBody>
      </p:sp>
      <p:sp>
        <p:nvSpPr>
          <p:cNvPr id="25" name="Rectangle 24"/>
          <p:cNvSpPr/>
          <p:nvPr/>
        </p:nvSpPr>
        <p:spPr>
          <a:xfrm>
            <a:off x="6144768" y="3767328"/>
            <a:ext cx="5394960" cy="822960"/>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44768" y="3767328"/>
            <a:ext cx="36576" cy="822960"/>
          </a:xfrm>
          <a:prstGeom prst="rect">
            <a:avLst/>
          </a:prstGeom>
          <a:solidFill>
            <a:srgbClr val="D6A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4496" y="3813048"/>
            <a:ext cx="457200" cy="182880"/>
          </a:xfrm>
          <a:prstGeom prst="rect">
            <a:avLst/>
          </a:prstGeom>
          <a:noFill/>
        </p:spPr>
        <p:txBody>
          <a:bodyPr wrap="square">
            <a:normAutofit/>
          </a:bodyPr>
          <a:lstStyle/>
          <a:p>
            <a:pPr algn="l"/>
            <a:r>
              <a:rPr sz="800" b="1" i="0">
                <a:solidFill>
                  <a:srgbClr val="7A8FA5"/>
                </a:solidFill>
                <a:latin typeface="Consolas"/>
              </a:rPr>
              <a:t>04</a:t>
            </a:r>
          </a:p>
        </p:txBody>
      </p:sp>
      <p:sp>
        <p:nvSpPr>
          <p:cNvPr id="28" name="TextBox 27"/>
          <p:cNvSpPr txBox="1"/>
          <p:nvPr/>
        </p:nvSpPr>
        <p:spPr>
          <a:xfrm>
            <a:off x="6254496" y="3977640"/>
            <a:ext cx="5212080" cy="256032"/>
          </a:xfrm>
          <a:prstGeom prst="rect">
            <a:avLst/>
          </a:prstGeom>
          <a:noFill/>
        </p:spPr>
        <p:txBody>
          <a:bodyPr wrap="square">
            <a:normAutofit/>
          </a:bodyPr>
          <a:lstStyle/>
          <a:p>
            <a:pPr algn="l"/>
            <a:r>
              <a:rPr sz="1100" b="1" i="0">
                <a:solidFill>
                  <a:srgbClr val="16202E"/>
                </a:solidFill>
                <a:latin typeface="Calibri"/>
              </a:rPr>
              <a:t>Carteras 2025 — Resultados Reales</a:t>
            </a:r>
          </a:p>
        </p:txBody>
      </p:sp>
      <p:sp>
        <p:nvSpPr>
          <p:cNvPr id="29" name="TextBox 28"/>
          <p:cNvSpPr txBox="1"/>
          <p:nvPr/>
        </p:nvSpPr>
        <p:spPr>
          <a:xfrm>
            <a:off x="6254496" y="4242816"/>
            <a:ext cx="5212080" cy="310896"/>
          </a:xfrm>
          <a:prstGeom prst="rect">
            <a:avLst/>
          </a:prstGeom>
          <a:noFill/>
        </p:spPr>
        <p:txBody>
          <a:bodyPr wrap="square">
            <a:normAutofit/>
          </a:bodyPr>
          <a:lstStyle/>
          <a:p>
            <a:pPr algn="l"/>
            <a:r>
              <a:rPr sz="950" b="0" i="0">
                <a:solidFill>
                  <a:srgbClr val="4A5568"/>
                </a:solidFill>
                <a:latin typeface="Calibri"/>
              </a:rPr>
              <a:t>Buy &amp; Hold +16.82% · Cartera NN +16.96% · Sharpe 1.289 vs 1.296</a:t>
            </a:r>
          </a:p>
        </p:txBody>
      </p:sp>
      <p:sp>
        <p:nvSpPr>
          <p:cNvPr id="30" name="Rectangle 29"/>
          <p:cNvSpPr/>
          <p:nvPr/>
        </p:nvSpPr>
        <p:spPr>
          <a:xfrm>
            <a:off x="0" y="4608576"/>
            <a:ext cx="12191695" cy="1783080"/>
          </a:xfrm>
          <a:prstGeom prst="rect">
            <a:avLst/>
          </a:prstGeom>
          <a:solidFill>
            <a:srgbClr val="F0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608576"/>
            <a:ext cx="73152" cy="1783080"/>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736592"/>
            <a:ext cx="2240280" cy="475488"/>
          </a:xfrm>
          <a:prstGeom prst="rect">
            <a:avLst/>
          </a:prstGeom>
          <a:noFill/>
        </p:spPr>
        <p:txBody>
          <a:bodyPr wrap="square">
            <a:normAutofit/>
          </a:bodyPr>
          <a:lstStyle/>
          <a:p>
            <a:pPr algn="ctr"/>
            <a:r>
              <a:rPr sz="2800" b="1" i="0">
                <a:solidFill>
                  <a:srgbClr val="2C5EA0"/>
                </a:solidFill>
                <a:latin typeface="Consolas"/>
              </a:rPr>
              <a:t>23</a:t>
            </a:r>
          </a:p>
        </p:txBody>
      </p:sp>
      <p:sp>
        <p:nvSpPr>
          <p:cNvPr id="33" name="TextBox 32"/>
          <p:cNvSpPr txBox="1"/>
          <p:nvPr/>
        </p:nvSpPr>
        <p:spPr>
          <a:xfrm>
            <a:off x="548640" y="5230368"/>
            <a:ext cx="2240280" cy="256032"/>
          </a:xfrm>
          <a:prstGeom prst="rect">
            <a:avLst/>
          </a:prstGeom>
          <a:noFill/>
        </p:spPr>
        <p:txBody>
          <a:bodyPr wrap="square">
            <a:normAutofit/>
          </a:bodyPr>
          <a:lstStyle/>
          <a:p>
            <a:pPr algn="ctr"/>
            <a:r>
              <a:rPr sz="900" b="0" i="0">
                <a:solidFill>
                  <a:srgbClr val="7A8FA5"/>
                </a:solidFill>
                <a:latin typeface="Calibri"/>
              </a:rPr>
              <a:t>activos SP500</a:t>
            </a:r>
          </a:p>
        </p:txBody>
      </p:sp>
      <p:sp>
        <p:nvSpPr>
          <p:cNvPr id="34" name="TextBox 33"/>
          <p:cNvSpPr txBox="1"/>
          <p:nvPr/>
        </p:nvSpPr>
        <p:spPr>
          <a:xfrm>
            <a:off x="2788920" y="4736592"/>
            <a:ext cx="2240280" cy="475488"/>
          </a:xfrm>
          <a:prstGeom prst="rect">
            <a:avLst/>
          </a:prstGeom>
          <a:noFill/>
        </p:spPr>
        <p:txBody>
          <a:bodyPr wrap="square">
            <a:normAutofit/>
          </a:bodyPr>
          <a:lstStyle/>
          <a:p>
            <a:pPr algn="ctr"/>
            <a:r>
              <a:rPr sz="2800" b="1" i="0">
                <a:solidFill>
                  <a:srgbClr val="2C5EA0"/>
                </a:solidFill>
                <a:latin typeface="Consolas"/>
              </a:rPr>
              <a:t>16</a:t>
            </a:r>
          </a:p>
        </p:txBody>
      </p:sp>
      <p:sp>
        <p:nvSpPr>
          <p:cNvPr id="35" name="TextBox 34"/>
          <p:cNvSpPr txBox="1"/>
          <p:nvPr/>
        </p:nvSpPr>
        <p:spPr>
          <a:xfrm>
            <a:off x="2788920" y="5230368"/>
            <a:ext cx="2240280" cy="256032"/>
          </a:xfrm>
          <a:prstGeom prst="rect">
            <a:avLst/>
          </a:prstGeom>
          <a:noFill/>
        </p:spPr>
        <p:txBody>
          <a:bodyPr wrap="square">
            <a:normAutofit/>
          </a:bodyPr>
          <a:lstStyle/>
          <a:p>
            <a:pPr algn="ctr"/>
            <a:r>
              <a:rPr sz="900" b="0" i="0">
                <a:solidFill>
                  <a:srgbClr val="7A8FA5"/>
                </a:solidFill>
                <a:latin typeface="Calibri"/>
              </a:rPr>
              <a:t>arquitecturas</a:t>
            </a:r>
          </a:p>
        </p:txBody>
      </p:sp>
      <p:sp>
        <p:nvSpPr>
          <p:cNvPr id="36" name="TextBox 35"/>
          <p:cNvSpPr txBox="1"/>
          <p:nvPr/>
        </p:nvSpPr>
        <p:spPr>
          <a:xfrm>
            <a:off x="5029200" y="4736592"/>
            <a:ext cx="2240280" cy="475488"/>
          </a:xfrm>
          <a:prstGeom prst="rect">
            <a:avLst/>
          </a:prstGeom>
          <a:noFill/>
        </p:spPr>
        <p:txBody>
          <a:bodyPr wrap="square">
            <a:normAutofit/>
          </a:bodyPr>
          <a:lstStyle/>
          <a:p>
            <a:pPr algn="ctr"/>
            <a:r>
              <a:rPr sz="2800" b="1" i="0">
                <a:solidFill>
                  <a:srgbClr val="2C5EA0"/>
                </a:solidFill>
                <a:latin typeface="Consolas"/>
              </a:rPr>
              <a:t>256</a:t>
            </a:r>
          </a:p>
        </p:txBody>
      </p:sp>
      <p:sp>
        <p:nvSpPr>
          <p:cNvPr id="37" name="TextBox 36"/>
          <p:cNvSpPr txBox="1"/>
          <p:nvPr/>
        </p:nvSpPr>
        <p:spPr>
          <a:xfrm>
            <a:off x="5029200" y="5230368"/>
            <a:ext cx="2240280" cy="256032"/>
          </a:xfrm>
          <a:prstGeom prst="rect">
            <a:avLst/>
          </a:prstGeom>
          <a:noFill/>
        </p:spPr>
        <p:txBody>
          <a:bodyPr wrap="square">
            <a:normAutofit/>
          </a:bodyPr>
          <a:lstStyle/>
          <a:p>
            <a:pPr algn="ctr"/>
            <a:r>
              <a:rPr sz="900" b="0" i="0">
                <a:solidFill>
                  <a:srgbClr val="7A8FA5"/>
                </a:solidFill>
                <a:latin typeface="Calibri"/>
              </a:rPr>
              <a:t>entrenamientos</a:t>
            </a:r>
          </a:p>
        </p:txBody>
      </p:sp>
      <p:sp>
        <p:nvSpPr>
          <p:cNvPr id="38" name="TextBox 37"/>
          <p:cNvSpPr txBox="1"/>
          <p:nvPr/>
        </p:nvSpPr>
        <p:spPr>
          <a:xfrm>
            <a:off x="7269480" y="4736592"/>
            <a:ext cx="2240280" cy="475488"/>
          </a:xfrm>
          <a:prstGeom prst="rect">
            <a:avLst/>
          </a:prstGeom>
          <a:noFill/>
        </p:spPr>
        <p:txBody>
          <a:bodyPr wrap="square">
            <a:normAutofit/>
          </a:bodyPr>
          <a:lstStyle/>
          <a:p>
            <a:pPr algn="ctr"/>
            <a:r>
              <a:rPr sz="2800" b="1" i="0">
                <a:solidFill>
                  <a:srgbClr val="2C5EA0"/>
                </a:solidFill>
                <a:latin typeface="Consolas"/>
              </a:rPr>
              <a:t>4×4</a:t>
            </a:r>
          </a:p>
        </p:txBody>
      </p:sp>
      <p:sp>
        <p:nvSpPr>
          <p:cNvPr id="39" name="TextBox 38"/>
          <p:cNvSpPr txBox="1"/>
          <p:nvPr/>
        </p:nvSpPr>
        <p:spPr>
          <a:xfrm>
            <a:off x="7269480" y="5230368"/>
            <a:ext cx="2240280" cy="256032"/>
          </a:xfrm>
          <a:prstGeom prst="rect">
            <a:avLst/>
          </a:prstGeom>
          <a:noFill/>
        </p:spPr>
        <p:txBody>
          <a:bodyPr wrap="square">
            <a:normAutofit/>
          </a:bodyPr>
          <a:lstStyle/>
          <a:p>
            <a:pPr algn="ctr"/>
            <a:r>
              <a:rPr sz="900" b="0" i="0">
                <a:solidFill>
                  <a:srgbClr val="7A8FA5"/>
                </a:solidFill>
                <a:latin typeface="Calibri"/>
              </a:rPr>
              <a:t>ventanas V_in×V_out</a:t>
            </a:r>
          </a:p>
        </p:txBody>
      </p:sp>
      <p:sp>
        <p:nvSpPr>
          <p:cNvPr id="40" name="TextBox 39"/>
          <p:cNvSpPr txBox="1"/>
          <p:nvPr/>
        </p:nvSpPr>
        <p:spPr>
          <a:xfrm>
            <a:off x="9509760" y="4736592"/>
            <a:ext cx="2240280" cy="475488"/>
          </a:xfrm>
          <a:prstGeom prst="rect">
            <a:avLst/>
          </a:prstGeom>
          <a:noFill/>
        </p:spPr>
        <p:txBody>
          <a:bodyPr wrap="square">
            <a:normAutofit/>
          </a:bodyPr>
          <a:lstStyle/>
          <a:p>
            <a:pPr algn="ctr"/>
            <a:r>
              <a:rPr sz="2800" b="1" i="0">
                <a:solidFill>
                  <a:srgbClr val="2C5EA0"/>
                </a:solidFill>
                <a:latin typeface="Consolas"/>
              </a:rPr>
              <a:t>6</a:t>
            </a:r>
          </a:p>
        </p:txBody>
      </p:sp>
      <p:sp>
        <p:nvSpPr>
          <p:cNvPr id="41" name="TextBox 40"/>
          <p:cNvSpPr txBox="1"/>
          <p:nvPr/>
        </p:nvSpPr>
        <p:spPr>
          <a:xfrm>
            <a:off x="9509760" y="5230368"/>
            <a:ext cx="2240280" cy="256032"/>
          </a:xfrm>
          <a:prstGeom prst="rect">
            <a:avLst/>
          </a:prstGeom>
          <a:noFill/>
        </p:spPr>
        <p:txBody>
          <a:bodyPr wrap="square">
            <a:normAutofit/>
          </a:bodyPr>
          <a:lstStyle/>
          <a:p>
            <a:pPr algn="ctr"/>
            <a:r>
              <a:rPr sz="900" b="0" i="0">
                <a:solidFill>
                  <a:srgbClr val="7A8FA5"/>
                </a:solidFill>
                <a:latin typeface="Calibri"/>
              </a:rPr>
              <a:t>secciones</a:t>
            </a:r>
          </a:p>
        </p:txBody>
      </p:sp>
      <p:sp>
        <p:nvSpPr>
          <p:cNvPr id="42" name="Rectangle 41"/>
          <p:cNvSpPr/>
          <p:nvPr/>
        </p:nvSpPr>
        <p:spPr>
          <a:xfrm>
            <a:off x="2697480" y="4800600"/>
            <a:ext cx="4572" cy="548640"/>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937760" y="4800600"/>
            <a:ext cx="4572" cy="548640"/>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78040" y="4800600"/>
            <a:ext cx="4572" cy="548640"/>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418320" y="4800600"/>
            <a:ext cx="4572" cy="548640"/>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6803136"/>
            <a:ext cx="12191695" cy="54864"/>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2C5EA0"/>
                </a:solidFill>
                <a:latin typeface="Consolas"/>
              </a:rPr>
              <a:t>§ 00</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Pipeline de Entrenamiento — Técnicas Comunes</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Configuración compartida · src/utils.py · mismos hiperparámetros en los 256 entrenamientos</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490472"/>
            <a:ext cx="11247120" cy="237744"/>
          </a:xfrm>
          <a:prstGeom prst="rect">
            <a:avLst/>
          </a:prstGeom>
          <a:noFill/>
        </p:spPr>
        <p:txBody>
          <a:bodyPr wrap="square">
            <a:normAutofit/>
          </a:bodyPr>
          <a:lstStyle/>
          <a:p>
            <a:pPr algn="l"/>
            <a:r>
              <a:rPr sz="950" b="1" i="0">
                <a:solidFill>
                  <a:srgbClr val="4A5568"/>
                </a:solidFill>
                <a:latin typeface="Calibri"/>
              </a:rPr>
              <a:t>Tabla 0a — Hiperparámetros globales · compile_model()</a:t>
            </a:r>
          </a:p>
        </p:txBody>
      </p:sp>
      <p:graphicFrame>
        <p:nvGraphicFramePr>
          <p:cNvPr id="7" name="Table 6"/>
          <p:cNvGraphicFramePr>
            <a:graphicFrameLocks noGrp="1"/>
          </p:cNvGraphicFramePr>
          <p:nvPr/>
        </p:nvGraphicFramePr>
        <p:xfrm>
          <a:off x="457200" y="1737360"/>
          <a:ext cx="11247120" cy="1371600"/>
        </p:xfrm>
        <a:graphic>
          <a:graphicData uri="http://schemas.openxmlformats.org/drawingml/2006/table">
            <a:tbl>
              <a:tblPr firstRow="1" bandRow="1">
                <a:tableStyleId>{5C22544A-7EE6-4342-B048-85BDC9FD1C3A}</a:tableStyleId>
              </a:tblPr>
              <a:tblGrid>
                <a:gridCol w="2011680"/>
                <a:gridCol w="2743200"/>
                <a:gridCol w="6492240"/>
              </a:tblGrid>
              <a:tr h="228600">
                <a:tc>
                  <a:txBody>
                    <a:bodyPr/>
                    <a:lstStyle/>
                    <a:p>
                      <a:pPr algn="l"/>
                      <a:r>
                        <a:rPr sz="900" b="1">
                          <a:solidFill>
                            <a:srgbClr val="FFFFFF"/>
                          </a:solidFill>
                          <a:latin typeface="Calibri"/>
                        </a:rPr>
                        <a:t>Componente</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Valor</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Justificación</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228600">
                <a:tc>
                  <a:txBody>
                    <a:bodyPr/>
                    <a:lstStyle/>
                    <a:p>
                      <a:pPr algn="l"/>
                      <a:r>
                        <a:rPr sz="1000" b="0">
                          <a:solidFill>
                            <a:srgbClr val="16202E"/>
                          </a:solidFill>
                          <a:latin typeface="Calibri"/>
                        </a:rPr>
                        <a:t>Optimizador</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Adam · lr = 3×10⁻⁴</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Default robusto para series temporales; sin tuning del lr entre modelos</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28600">
                <a:tc>
                  <a:txBody>
                    <a:bodyPr/>
                    <a:lstStyle/>
                    <a:p>
                      <a:pPr algn="l"/>
                      <a:r>
                        <a:rPr sz="1000" b="0">
                          <a:solidFill>
                            <a:srgbClr val="16202E"/>
                          </a:solidFill>
                          <a:latin typeface="Calibri"/>
                        </a:rPr>
                        <a:t>Función de pérdida</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MAE</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Directamente interpretable en escala de retornos; menos sensible a outliers que MSE</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28600">
                <a:tc>
                  <a:txBody>
                    <a:bodyPr/>
                    <a:lstStyle/>
                    <a:p>
                      <a:pPr algn="l"/>
                      <a:r>
                        <a:rPr sz="1000" b="0">
                          <a:solidFill>
                            <a:srgbClr val="16202E"/>
                          </a:solidFill>
                          <a:latin typeface="Calibri"/>
                        </a:rPr>
                        <a:t>Épocas</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100 (NB 02–04) · 500 (NB 05)</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Sin EarlyStopping → curva completa de aprendizaje visible</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28600">
                <a:tc>
                  <a:txBody>
                    <a:bodyPr/>
                    <a:lstStyle/>
                    <a:p>
                      <a:pPr algn="l"/>
                      <a:r>
                        <a:rPr sz="1000" b="0">
                          <a:solidFill>
                            <a:srgbClr val="16202E"/>
                          </a:solidFill>
                          <a:latin typeface="Calibri"/>
                        </a:rPr>
                        <a:t>Batch size</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32 (Keras default)</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Uniforme en todos los modelos para comparabilidad directa</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28600">
                <a:tc>
                  <a:txBody>
                    <a:bodyPr/>
                    <a:lstStyle/>
                    <a:p>
                      <a:pPr algn="l"/>
                      <a:r>
                        <a:rPr sz="1000" b="0">
                          <a:solidFill>
                            <a:srgbClr val="16202E"/>
                          </a:solidFill>
                          <a:latin typeface="Calibri"/>
                        </a:rPr>
                        <a:t>Semilla</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RANDOM_SEED = 42</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Reproducibilidad de particiones y pesos iniciales</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
        <p:nvSpPr>
          <p:cNvPr id="8" name="TextBox 7"/>
          <p:cNvSpPr txBox="1"/>
          <p:nvPr/>
        </p:nvSpPr>
        <p:spPr>
          <a:xfrm>
            <a:off x="457200" y="3182112"/>
            <a:ext cx="11247120" cy="237744"/>
          </a:xfrm>
          <a:prstGeom prst="rect">
            <a:avLst/>
          </a:prstGeom>
          <a:noFill/>
        </p:spPr>
        <p:txBody>
          <a:bodyPr wrap="square">
            <a:normAutofit/>
          </a:bodyPr>
          <a:lstStyle/>
          <a:p>
            <a:pPr algn="l"/>
            <a:r>
              <a:rPr sz="950" b="1" i="0">
                <a:solidFill>
                  <a:srgbClr val="4A5568"/>
                </a:solidFill>
                <a:latin typeface="Calibri"/>
              </a:rPr>
              <a:t>Tabla 0b — Callbacks · get_callbacks() + restore_best_weights()</a:t>
            </a:r>
          </a:p>
        </p:txBody>
      </p:sp>
      <p:graphicFrame>
        <p:nvGraphicFramePr>
          <p:cNvPr id="9" name="Table 8"/>
          <p:cNvGraphicFramePr>
            <a:graphicFrameLocks noGrp="1"/>
          </p:cNvGraphicFramePr>
          <p:nvPr/>
        </p:nvGraphicFramePr>
        <p:xfrm>
          <a:off x="457200" y="3429000"/>
          <a:ext cx="11247120" cy="1024128"/>
        </p:xfrm>
        <a:graphic>
          <a:graphicData uri="http://schemas.openxmlformats.org/drawingml/2006/table">
            <a:tbl>
              <a:tblPr firstRow="1" bandRow="1">
                <a:tableStyleId>{5C22544A-7EE6-4342-B048-85BDC9FD1C3A}</a:tableStyleId>
              </a:tblPr>
              <a:tblGrid>
                <a:gridCol w="2011680"/>
                <a:gridCol w="3474720"/>
                <a:gridCol w="5760720"/>
              </a:tblGrid>
              <a:tr h="256032">
                <a:tc>
                  <a:txBody>
                    <a:bodyPr/>
                    <a:lstStyle/>
                    <a:p>
                      <a:pPr algn="l"/>
                      <a:r>
                        <a:rPr sz="900" b="1">
                          <a:solidFill>
                            <a:srgbClr val="FFFFFF"/>
                          </a:solidFill>
                          <a:latin typeface="Calibri"/>
                        </a:rPr>
                        <a:t>Callback</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Parámetros clave</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Efecto</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256032">
                <a:tc>
                  <a:txBody>
                    <a:bodyPr/>
                    <a:lstStyle/>
                    <a:p>
                      <a:pPr algn="l"/>
                      <a:r>
                        <a:rPr sz="1000" b="0">
                          <a:solidFill>
                            <a:srgbClr val="16202E"/>
                          </a:solidFill>
                          <a:latin typeface="Calibri"/>
                        </a:rPr>
                        <a:t>ReduceLROnPlateau</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monitor=val_loss · factor=0.9 · patience=15 · min_lr=1e-5</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lr ← lr × 0.9 si val_loss no mejora 15 épocas seguidas (descenso suave)</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6032">
                <a:tc>
                  <a:txBody>
                    <a:bodyPr/>
                    <a:lstStyle/>
                    <a:p>
                      <a:pPr algn="l"/>
                      <a:r>
                        <a:rPr sz="1000" b="0">
                          <a:solidFill>
                            <a:srgbClr val="16202E"/>
                          </a:solidFill>
                          <a:latin typeface="Calibri"/>
                        </a:rPr>
                        <a:t>ModelCheckpoint</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monitor=val_loss · save_best_only=True</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Guarda pesos del epoch con menor val_loss. restore_best_weights() los recarga tras model.fit()</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56032">
                <a:tc>
                  <a:txBody>
                    <a:bodyPr/>
                    <a:lstStyle/>
                    <a:p>
                      <a:pPr algn="l"/>
                      <a:r>
                        <a:rPr sz="1000" b="0">
                          <a:solidFill>
                            <a:srgbClr val="16202E"/>
                          </a:solidFill>
                          <a:latin typeface="Calibri"/>
                        </a:rPr>
                        <a:t>EarlyStopping</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 (no usado)</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Omitido deliberadamente: se prefiere ver la curva completa de entrenamiento</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
        <p:nvSpPr>
          <p:cNvPr id="10" name="TextBox 9"/>
          <p:cNvSpPr txBox="1"/>
          <p:nvPr/>
        </p:nvSpPr>
        <p:spPr>
          <a:xfrm>
            <a:off x="457200" y="4526280"/>
            <a:ext cx="6858000" cy="237744"/>
          </a:xfrm>
          <a:prstGeom prst="rect">
            <a:avLst/>
          </a:prstGeom>
          <a:noFill/>
        </p:spPr>
        <p:txBody>
          <a:bodyPr wrap="square">
            <a:normAutofit/>
          </a:bodyPr>
          <a:lstStyle/>
          <a:p>
            <a:pPr algn="l"/>
            <a:r>
              <a:rPr sz="950" b="1" i="0">
                <a:solidFill>
                  <a:srgbClr val="4A5568"/>
                </a:solidFill>
                <a:latin typeface="Calibri"/>
              </a:rPr>
              <a:t>Tabla 0c — Partición cronológica · make_splits() · shuffle=False</a:t>
            </a:r>
          </a:p>
        </p:txBody>
      </p:sp>
      <p:graphicFrame>
        <p:nvGraphicFramePr>
          <p:cNvPr id="11" name="Table 10"/>
          <p:cNvGraphicFramePr>
            <a:graphicFrameLocks noGrp="1"/>
          </p:cNvGraphicFramePr>
          <p:nvPr/>
        </p:nvGraphicFramePr>
        <p:xfrm>
          <a:off x="457200" y="4773168"/>
          <a:ext cx="6858000" cy="960120"/>
        </p:xfrm>
        <a:graphic>
          <a:graphicData uri="http://schemas.openxmlformats.org/drawingml/2006/table">
            <a:tbl>
              <a:tblPr firstRow="1" bandRow="1">
                <a:tableStyleId>{5C22544A-7EE6-4342-B048-85BDC9FD1C3A}</a:tableStyleId>
              </a:tblPr>
              <a:tblGrid>
                <a:gridCol w="1371600"/>
                <a:gridCol w="1188720"/>
                <a:gridCol w="4297680"/>
              </a:tblGrid>
              <a:tr h="240030">
                <a:tc>
                  <a:txBody>
                    <a:bodyPr/>
                    <a:lstStyle/>
                    <a:p>
                      <a:pPr algn="l"/>
                      <a:r>
                        <a:rPr sz="900" b="1">
                          <a:solidFill>
                            <a:srgbClr val="FFFFFF"/>
                          </a:solidFill>
                          <a:latin typeface="Calibri"/>
                        </a:rPr>
                        <a:t>Split</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 total</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Detalle</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240030">
                <a:tc>
                  <a:txBody>
                    <a:bodyPr/>
                    <a:lstStyle/>
                    <a:p>
                      <a:pPr algn="l"/>
                      <a:r>
                        <a:rPr sz="1000" b="0">
                          <a:solidFill>
                            <a:srgbClr val="16202E"/>
                          </a:solidFill>
                          <a:latin typeface="Calibri"/>
                        </a:rPr>
                        <a:t>Train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67.5 %</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75% de train_full · ventanas temporalmente anteriores</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40030">
                <a:tc>
                  <a:txBody>
                    <a:bodyPr/>
                    <a:lstStyle/>
                    <a:p>
                      <a:pPr algn="l"/>
                      <a:r>
                        <a:rPr sz="1000" b="0">
                          <a:solidFill>
                            <a:srgbClr val="16202E"/>
                          </a:solidFill>
                          <a:latin typeface="Calibri"/>
                        </a:rPr>
                        <a:t>Validación</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22.5 %</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25% de train_full · señal para ReduceLROnPlateau y ModelCheckpoint</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40030">
                <a:tc>
                  <a:txBody>
                    <a:bodyPr/>
                    <a:lstStyle/>
                    <a:p>
                      <a:pPr algn="l"/>
                      <a:r>
                        <a:rPr sz="1000" b="0">
                          <a:solidFill>
                            <a:srgbClr val="16202E"/>
                          </a:solidFill>
                          <a:latin typeface="Calibri"/>
                        </a:rPr>
                        <a:t>Test</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10 %</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Separado antes del split · nunca visto durante entrenamiento</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
        <p:nvSpPr>
          <p:cNvPr id="12" name="Rectangle 11"/>
          <p:cNvSpPr/>
          <p:nvPr/>
        </p:nvSpPr>
        <p:spPr>
          <a:xfrm>
            <a:off x="7452360" y="4526280"/>
            <a:ext cx="4251960" cy="1207008"/>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52360" y="4526280"/>
            <a:ext cx="4251960" cy="36576"/>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599432"/>
            <a:ext cx="3977640" cy="237744"/>
          </a:xfrm>
          <a:prstGeom prst="rect">
            <a:avLst/>
          </a:prstGeom>
          <a:noFill/>
        </p:spPr>
        <p:txBody>
          <a:bodyPr wrap="square">
            <a:normAutofit/>
          </a:bodyPr>
          <a:lstStyle/>
          <a:p>
            <a:pPr algn="l"/>
            <a:r>
              <a:rPr sz="800" b="1" i="0">
                <a:solidFill>
                  <a:srgbClr val="2C5EA0"/>
                </a:solidFill>
                <a:latin typeface="Consolas"/>
              </a:rPr>
              <a:t>NAIVE FORECAST — eval_mae_naive()</a:t>
            </a:r>
          </a:p>
        </p:txBody>
      </p:sp>
      <p:sp>
        <p:nvSpPr>
          <p:cNvPr id="15" name="TextBox 14"/>
          <p:cNvSpPr txBox="1"/>
          <p:nvPr/>
        </p:nvSpPr>
        <p:spPr>
          <a:xfrm>
            <a:off x="7589520" y="4837176"/>
            <a:ext cx="3977640" cy="859536"/>
          </a:xfrm>
          <a:prstGeom prst="rect">
            <a:avLst/>
          </a:prstGeom>
          <a:noFill/>
        </p:spPr>
        <p:txBody>
          <a:bodyPr wrap="square">
            <a:normAutofit/>
          </a:bodyPr>
          <a:lstStyle/>
          <a:p>
            <a:pPr algn="l"/>
            <a:r>
              <a:rPr sz="1000" b="0" i="0">
                <a:solidFill>
                  <a:srgbClr val="16202E"/>
                </a:solidFill>
                <a:latin typeface="Calibri"/>
              </a:rPr>
              <a:t>Predice el último retorno conocido: y_pred = X[:, −1, :]
Cota superior de MAE — cualquier modelo razonable debe superarlo. Bueno en V_out=1d (correlación serial de primer orden), muy malo a largo plazo.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2C5EA0"/>
                </a:solidFill>
                <a:latin typeface="Consolas"/>
              </a:rPr>
              <a:t>§ 01</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Resultado de la Competición</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Mejor MAE test por combinación de ventanas · 256 entrenamientos totales</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pic>
        <p:nvPicPr>
          <p:cNvPr id="6" name="Picture 5" descr="image.png"/>
          <p:cNvPicPr>
            <a:picLocks noChangeAspect="1"/>
          </p:cNvPicPr>
          <p:nvPr/>
        </p:nvPicPr>
        <p:blipFill>
          <a:blip r:embed="rId2"/>
          <a:stretch>
            <a:fillRect/>
          </a:stretch>
        </p:blipFill>
        <p:spPr>
          <a:xfrm>
            <a:off x="457200" y="1508760"/>
            <a:ext cx="7315200" cy="3246120"/>
          </a:xfrm>
          <a:prstGeom prst="rect">
            <a:avLst/>
          </a:prstGeom>
        </p:spPr>
      </p:pic>
      <p:sp>
        <p:nvSpPr>
          <p:cNvPr id="7" name="TextBox 6"/>
          <p:cNvSpPr txBox="1"/>
          <p:nvPr/>
        </p:nvSpPr>
        <p:spPr>
          <a:xfrm>
            <a:off x="7909560" y="1508760"/>
            <a:ext cx="4069080" cy="237744"/>
          </a:xfrm>
          <a:prstGeom prst="rect">
            <a:avLst/>
          </a:prstGeom>
          <a:noFill/>
        </p:spPr>
        <p:txBody>
          <a:bodyPr wrap="square">
            <a:normAutofit/>
          </a:bodyPr>
          <a:lstStyle/>
          <a:p>
            <a:pPr algn="l"/>
            <a:r>
              <a:rPr sz="950" b="1" i="0">
                <a:solidFill>
                  <a:srgbClr val="4A5568"/>
                </a:solidFill>
                <a:latin typeface="Calibri"/>
              </a:rPr>
              <a:t>Referencias comparativas</a:t>
            </a:r>
          </a:p>
        </p:txBody>
      </p:sp>
      <p:graphicFrame>
        <p:nvGraphicFramePr>
          <p:cNvPr id="8" name="Table 7"/>
          <p:cNvGraphicFramePr>
            <a:graphicFrameLocks noGrp="1"/>
          </p:cNvGraphicFramePr>
          <p:nvPr/>
        </p:nvGraphicFramePr>
        <p:xfrm>
          <a:off x="7909560" y="1764792"/>
          <a:ext cx="4069080" cy="731520"/>
        </p:xfrm>
        <a:graphic>
          <a:graphicData uri="http://schemas.openxmlformats.org/drawingml/2006/table">
            <a:tbl>
              <a:tblPr firstRow="1" bandRow="1">
                <a:tableStyleId>{5C22544A-7EE6-4342-B048-85BDC9FD1C3A}</a:tableStyleId>
              </a:tblPr>
              <a:tblGrid>
                <a:gridCol w="1417320"/>
                <a:gridCol w="667512"/>
                <a:gridCol w="667512"/>
                <a:gridCol w="667512"/>
                <a:gridCol w="649224"/>
              </a:tblGrid>
              <a:tr h="243840">
                <a:tc>
                  <a:txBody>
                    <a:bodyPr/>
                    <a:lstStyle/>
                    <a:p>
                      <a:pPr algn="l"/>
                      <a:r>
                        <a:rPr sz="900" b="1">
                          <a:solidFill>
                            <a:srgbClr val="FFFFFF"/>
                          </a:solidFill>
                          <a:latin typeface="Calibri"/>
                        </a:rPr>
                        <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1d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5d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30d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90d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243840">
                <a:tc>
                  <a:txBody>
                    <a:bodyPr/>
                    <a:lstStyle/>
                    <a:p>
                      <a:pPr algn="l"/>
                      <a:r>
                        <a:rPr sz="1000" b="0">
                          <a:solidFill>
                            <a:srgbClr val="16202E"/>
                          </a:solidFill>
                          <a:latin typeface="Calibri"/>
                        </a:rPr>
                        <a:t>Lineal (V_in=5)</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34795A"/>
                          </a:solidFill>
                          <a:latin typeface="Calibri"/>
                        </a:rPr>
                        <a:t>0.0124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34795A"/>
                          </a:solidFill>
                          <a:latin typeface="Calibri"/>
                        </a:rPr>
                        <a:t>0.0056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34795A"/>
                          </a:solidFill>
                          <a:latin typeface="Calibri"/>
                        </a:rPr>
                        <a:t>0.0023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34795A"/>
                          </a:solidFill>
                          <a:latin typeface="Calibri"/>
                        </a:rPr>
                        <a:t>0.0013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43840">
                <a:tc>
                  <a:txBody>
                    <a:bodyPr/>
                    <a:lstStyle/>
                    <a:p>
                      <a:pPr algn="l"/>
                      <a:r>
                        <a:rPr sz="1000" b="0">
                          <a:solidFill>
                            <a:srgbClr val="16202E"/>
                          </a:solidFill>
                          <a:latin typeface="Calibri"/>
                        </a:rPr>
                        <a:t>Naive</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B03838"/>
                          </a:solidFill>
                          <a:latin typeface="Calibri"/>
                        </a:rPr>
                        <a:t>0.0178</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B03838"/>
                          </a:solidFill>
                          <a:latin typeface="Calibri"/>
                        </a:rPr>
                        <a:t>0.0137</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B03838"/>
                          </a:solidFill>
                          <a:latin typeface="Calibri"/>
                        </a:rPr>
                        <a:t>0.0125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B03838"/>
                          </a:solidFill>
                          <a:latin typeface="Calibri"/>
                        </a:rPr>
                        <a:t>0.0122</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
        <p:nvSpPr>
          <p:cNvPr id="9" name="TextBox 8"/>
          <p:cNvSpPr txBox="1"/>
          <p:nvPr/>
        </p:nvSpPr>
        <p:spPr>
          <a:xfrm>
            <a:off x="7909560" y="2624328"/>
            <a:ext cx="320040" cy="438912"/>
          </a:xfrm>
          <a:prstGeom prst="rect">
            <a:avLst/>
          </a:prstGeom>
          <a:noFill/>
        </p:spPr>
        <p:txBody>
          <a:bodyPr wrap="square">
            <a:normAutofit/>
          </a:bodyPr>
          <a:lstStyle/>
          <a:p>
            <a:pPr algn="l"/>
            <a:r>
              <a:rPr sz="1100" b="1" i="0">
                <a:solidFill>
                  <a:srgbClr val="2C5EA0"/>
                </a:solidFill>
                <a:latin typeface="Consolas"/>
              </a:rPr>
              <a:t>1.</a:t>
            </a:r>
          </a:p>
        </p:txBody>
      </p:sp>
      <p:sp>
        <p:nvSpPr>
          <p:cNvPr id="10" name="TextBox 9"/>
          <p:cNvSpPr txBox="1"/>
          <p:nvPr/>
        </p:nvSpPr>
        <p:spPr>
          <a:xfrm>
            <a:off x="8229600" y="2624328"/>
            <a:ext cx="3749039" cy="228600"/>
          </a:xfrm>
          <a:prstGeom prst="rect">
            <a:avLst/>
          </a:prstGeom>
          <a:noFill/>
        </p:spPr>
        <p:txBody>
          <a:bodyPr wrap="square">
            <a:normAutofit/>
          </a:bodyPr>
          <a:lstStyle/>
          <a:p>
            <a:pPr algn="l"/>
            <a:r>
              <a:rPr sz="1050" b="1" i="0">
                <a:solidFill>
                  <a:srgbClr val="16202E"/>
                </a:solidFill>
                <a:latin typeface="Calibri"/>
              </a:rPr>
              <a:t>V_in es completamente irrelevante</a:t>
            </a:r>
          </a:p>
        </p:txBody>
      </p:sp>
      <p:sp>
        <p:nvSpPr>
          <p:cNvPr id="11" name="TextBox 10"/>
          <p:cNvSpPr txBox="1"/>
          <p:nvPr/>
        </p:nvSpPr>
        <p:spPr>
          <a:xfrm>
            <a:off x="8229600" y="2862072"/>
            <a:ext cx="3749039" cy="320040"/>
          </a:xfrm>
          <a:prstGeom prst="rect">
            <a:avLst/>
          </a:prstGeom>
          <a:noFill/>
        </p:spPr>
        <p:txBody>
          <a:bodyPr wrap="square">
            <a:normAutofit/>
          </a:bodyPr>
          <a:lstStyle/>
          <a:p>
            <a:pPr algn="l"/>
            <a:r>
              <a:rPr sz="950" b="0" i="0">
                <a:solidFill>
                  <a:srgbClr val="4A5568"/>
                </a:solidFill>
                <a:latin typeface="Calibri"/>
              </a:rPr>
              <a:t>Las 4 filas de la matriz son idénticas. El modelo ignora el contexto extra porque el input es ruido blanco.</a:t>
            </a:r>
          </a:p>
        </p:txBody>
      </p:sp>
      <p:sp>
        <p:nvSpPr>
          <p:cNvPr id="12" name="TextBox 11"/>
          <p:cNvSpPr txBox="1"/>
          <p:nvPr/>
        </p:nvSpPr>
        <p:spPr>
          <a:xfrm>
            <a:off x="7909560" y="3236976"/>
            <a:ext cx="320040" cy="438912"/>
          </a:xfrm>
          <a:prstGeom prst="rect">
            <a:avLst/>
          </a:prstGeom>
          <a:noFill/>
        </p:spPr>
        <p:txBody>
          <a:bodyPr wrap="square">
            <a:normAutofit/>
          </a:bodyPr>
          <a:lstStyle/>
          <a:p>
            <a:pPr algn="l"/>
            <a:r>
              <a:rPr sz="1100" b="1" i="0">
                <a:solidFill>
                  <a:srgbClr val="2C5EA0"/>
                </a:solidFill>
                <a:latin typeface="Consolas"/>
              </a:rPr>
              <a:t>2.</a:t>
            </a:r>
          </a:p>
        </p:txBody>
      </p:sp>
      <p:sp>
        <p:nvSpPr>
          <p:cNvPr id="13" name="TextBox 12"/>
          <p:cNvSpPr txBox="1"/>
          <p:nvPr/>
        </p:nvSpPr>
        <p:spPr>
          <a:xfrm>
            <a:off x="8229600" y="3236976"/>
            <a:ext cx="3749039" cy="228600"/>
          </a:xfrm>
          <a:prstGeom prst="rect">
            <a:avLst/>
          </a:prstGeom>
          <a:noFill/>
        </p:spPr>
        <p:txBody>
          <a:bodyPr wrap="square">
            <a:normAutofit/>
          </a:bodyPr>
          <a:lstStyle/>
          <a:p>
            <a:pPr algn="l"/>
            <a:r>
              <a:rPr sz="1050" b="1" i="0">
                <a:solidFill>
                  <a:srgbClr val="16202E"/>
                </a:solidFill>
                <a:latin typeface="Calibri"/>
              </a:rPr>
              <a:t>Colapso universal a la media</a:t>
            </a:r>
          </a:p>
        </p:txBody>
      </p:sp>
      <p:sp>
        <p:nvSpPr>
          <p:cNvPr id="14" name="TextBox 13"/>
          <p:cNvSpPr txBox="1"/>
          <p:nvPr/>
        </p:nvSpPr>
        <p:spPr>
          <a:xfrm>
            <a:off x="8229600" y="3474720"/>
            <a:ext cx="3749039" cy="320040"/>
          </a:xfrm>
          <a:prstGeom prst="rect">
            <a:avLst/>
          </a:prstGeom>
          <a:noFill/>
        </p:spPr>
        <p:txBody>
          <a:bodyPr wrap="square">
            <a:normAutofit/>
          </a:bodyPr>
          <a:lstStyle/>
          <a:p>
            <a:pPr algn="l"/>
            <a:r>
              <a:rPr sz="950" b="0" i="0">
                <a:solidFill>
                  <a:srgbClr val="4A5568"/>
                </a:solidFill>
                <a:latin typeface="Calibri"/>
              </a:rPr>
              <a:t>std(pred)/std(y) ≈ 0.06–0.10. Diferencias entre arquitecturas: ΔMAE &lt; 0.0001.</a:t>
            </a:r>
          </a:p>
        </p:txBody>
      </p:sp>
      <p:sp>
        <p:nvSpPr>
          <p:cNvPr id="15" name="TextBox 14"/>
          <p:cNvSpPr txBox="1"/>
          <p:nvPr/>
        </p:nvSpPr>
        <p:spPr>
          <a:xfrm>
            <a:off x="7909560" y="3849624"/>
            <a:ext cx="320040" cy="438912"/>
          </a:xfrm>
          <a:prstGeom prst="rect">
            <a:avLst/>
          </a:prstGeom>
          <a:noFill/>
        </p:spPr>
        <p:txBody>
          <a:bodyPr wrap="square">
            <a:normAutofit/>
          </a:bodyPr>
          <a:lstStyle/>
          <a:p>
            <a:pPr algn="l"/>
            <a:r>
              <a:rPr sz="1100" b="1" i="0">
                <a:solidFill>
                  <a:srgbClr val="2C5EA0"/>
                </a:solidFill>
                <a:latin typeface="Consolas"/>
              </a:rPr>
              <a:t>3.</a:t>
            </a:r>
          </a:p>
        </p:txBody>
      </p:sp>
      <p:sp>
        <p:nvSpPr>
          <p:cNvPr id="16" name="TextBox 15"/>
          <p:cNvSpPr txBox="1"/>
          <p:nvPr/>
        </p:nvSpPr>
        <p:spPr>
          <a:xfrm>
            <a:off x="8229600" y="3849624"/>
            <a:ext cx="3749039" cy="228600"/>
          </a:xfrm>
          <a:prstGeom prst="rect">
            <a:avLst/>
          </a:prstGeom>
          <a:noFill/>
        </p:spPr>
        <p:txBody>
          <a:bodyPr wrap="square">
            <a:normAutofit/>
          </a:bodyPr>
          <a:lstStyle/>
          <a:p>
            <a:pPr algn="l"/>
            <a:r>
              <a:rPr sz="1050" b="1" i="0">
                <a:solidFill>
                  <a:srgbClr val="16202E"/>
                </a:solidFill>
                <a:latin typeface="Calibri"/>
              </a:rPr>
              <a:t>Lineal(V_in=5) ≡ NN en 3/4 horizontes</a:t>
            </a:r>
          </a:p>
        </p:txBody>
      </p:sp>
      <p:sp>
        <p:nvSpPr>
          <p:cNvPr id="17" name="TextBox 16"/>
          <p:cNvSpPr txBox="1"/>
          <p:nvPr/>
        </p:nvSpPr>
        <p:spPr>
          <a:xfrm>
            <a:off x="8229600" y="4087368"/>
            <a:ext cx="3749039" cy="320040"/>
          </a:xfrm>
          <a:prstGeom prst="rect">
            <a:avLst/>
          </a:prstGeom>
          <a:noFill/>
        </p:spPr>
        <p:txBody>
          <a:bodyPr wrap="square">
            <a:normAutofit/>
          </a:bodyPr>
          <a:lstStyle/>
          <a:p>
            <a:pPr algn="l"/>
            <a:r>
              <a:rPr sz="950" b="0" i="0">
                <a:solidFill>
                  <a:srgbClr val="4A5568"/>
                </a:solidFill>
                <a:latin typeface="Calibri"/>
              </a:rPr>
              <a:t>Solo en V_out=1d el lineal queda 0.8% por detrás. Al subir V_in el lineal degrada; la NN permanece estable.</a:t>
            </a:r>
          </a:p>
        </p:txBody>
      </p:sp>
      <p:sp>
        <p:nvSpPr>
          <p:cNvPr id="18" name="TextBox 17"/>
          <p:cNvSpPr txBox="1"/>
          <p:nvPr/>
        </p:nvSpPr>
        <p:spPr>
          <a:xfrm>
            <a:off x="7909560" y="4462272"/>
            <a:ext cx="320040" cy="438912"/>
          </a:xfrm>
          <a:prstGeom prst="rect">
            <a:avLst/>
          </a:prstGeom>
          <a:noFill/>
        </p:spPr>
        <p:txBody>
          <a:bodyPr wrap="square">
            <a:normAutofit/>
          </a:bodyPr>
          <a:lstStyle/>
          <a:p>
            <a:pPr algn="l"/>
            <a:r>
              <a:rPr sz="1100" b="1" i="0">
                <a:solidFill>
                  <a:srgbClr val="2C5EA0"/>
                </a:solidFill>
                <a:latin typeface="Consolas"/>
              </a:rPr>
              <a:t>4.</a:t>
            </a:r>
          </a:p>
        </p:txBody>
      </p:sp>
      <p:sp>
        <p:nvSpPr>
          <p:cNvPr id="19" name="TextBox 18"/>
          <p:cNvSpPr txBox="1"/>
          <p:nvPr/>
        </p:nvSpPr>
        <p:spPr>
          <a:xfrm>
            <a:off x="8229600" y="4462272"/>
            <a:ext cx="3749039" cy="228600"/>
          </a:xfrm>
          <a:prstGeom prst="rect">
            <a:avLst/>
          </a:prstGeom>
          <a:noFill/>
        </p:spPr>
        <p:txBody>
          <a:bodyPr wrap="square">
            <a:normAutofit/>
          </a:bodyPr>
          <a:lstStyle/>
          <a:p>
            <a:pPr algn="l"/>
            <a:r>
              <a:rPr sz="1050" b="1" i="0">
                <a:solidFill>
                  <a:srgbClr val="16202E"/>
                </a:solidFill>
                <a:latin typeface="Calibri"/>
              </a:rPr>
              <a:t>NN mejora al naive desde V_out ≥ 5d</a:t>
            </a:r>
          </a:p>
        </p:txBody>
      </p:sp>
      <p:sp>
        <p:nvSpPr>
          <p:cNvPr id="20" name="TextBox 19"/>
          <p:cNvSpPr txBox="1"/>
          <p:nvPr/>
        </p:nvSpPr>
        <p:spPr>
          <a:xfrm>
            <a:off x="8229600" y="4700016"/>
            <a:ext cx="3749039" cy="320040"/>
          </a:xfrm>
          <a:prstGeom prst="rect">
            <a:avLst/>
          </a:prstGeom>
          <a:noFill/>
        </p:spPr>
        <p:txBody>
          <a:bodyPr wrap="square">
            <a:normAutofit/>
          </a:bodyPr>
          <a:lstStyle/>
          <a:p>
            <a:pPr algn="l"/>
            <a:r>
              <a:rPr sz="950" b="0" i="0">
                <a:solidFill>
                  <a:srgbClr val="4A5568"/>
                </a:solidFill>
                <a:latin typeface="Calibri"/>
              </a:rPr>
              <a:t>Naive predice el último retorno — bueno en 1d, malo a largo plazo.</a:t>
            </a:r>
          </a:p>
        </p:txBody>
      </p:sp>
      <p:sp>
        <p:nvSpPr>
          <p:cNvPr id="21" name="Rectangle 20"/>
          <p:cNvSpPr/>
          <p:nvPr/>
        </p:nvSpPr>
        <p:spPr>
          <a:xfrm>
            <a:off x="457200" y="4892040"/>
            <a:ext cx="11567160" cy="841248"/>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892040"/>
            <a:ext cx="11567160" cy="36576"/>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965192"/>
            <a:ext cx="11292840" cy="237744"/>
          </a:xfrm>
          <a:prstGeom prst="rect">
            <a:avLst/>
          </a:prstGeom>
          <a:noFill/>
        </p:spPr>
        <p:txBody>
          <a:bodyPr wrap="square">
            <a:normAutofit/>
          </a:bodyPr>
          <a:lstStyle/>
          <a:p>
            <a:pPr algn="l"/>
            <a:r>
              <a:rPr sz="800" b="1" i="0">
                <a:solidFill>
                  <a:srgbClr val="2C5EA0"/>
                </a:solidFill>
                <a:latin typeface="Consolas"/>
              </a:rPr>
              <a:t>POR QUE ES CORRECTO — EMH + MAE</a:t>
            </a:r>
          </a:p>
        </p:txBody>
      </p:sp>
      <p:sp>
        <p:nvSpPr>
          <p:cNvPr id="24" name="TextBox 23"/>
          <p:cNvSpPr txBox="1"/>
          <p:nvPr/>
        </p:nvSpPr>
        <p:spPr>
          <a:xfrm>
            <a:off x="594360" y="5202936"/>
            <a:ext cx="11292840" cy="493776"/>
          </a:xfrm>
          <a:prstGeom prst="rect">
            <a:avLst/>
          </a:prstGeom>
          <a:noFill/>
        </p:spPr>
        <p:txBody>
          <a:bodyPr wrap="square">
            <a:normAutofit/>
          </a:bodyPr>
          <a:lstStyle/>
          <a:p>
            <a:pPr algn="l"/>
            <a:r>
              <a:rPr sz="1000" b="0" i="0">
                <a:solidFill>
                  <a:srgbClr val="16202E"/>
                </a:solidFill>
                <a:latin typeface="Calibri"/>
              </a:rPr>
              <a:t>Log-retornos del SP500 son ruido blanco (autocorrelacion aprox. 0). Bajo EMH, el estimador que minimiza el MAE es la media incondicional aprox. 0. No es un fracaso del modelo: es la respuesta estadisticamente correcta.</a:t>
            </a:r>
          </a:p>
        </p:txBody>
      </p:sp>
      <p:sp>
        <p:nvSpPr>
          <p:cNvPr id="25" name="TextBox 24"/>
          <p:cNvSpPr txBox="1"/>
          <p:nvPr/>
        </p:nvSpPr>
        <p:spPr>
          <a:xfrm>
            <a:off x="457200" y="5806440"/>
            <a:ext cx="7315200" cy="256032"/>
          </a:xfrm>
          <a:prstGeom prst="rect">
            <a:avLst/>
          </a:prstGeom>
          <a:noFill/>
        </p:spPr>
        <p:txBody>
          <a:bodyPr wrap="square">
            <a:normAutofit/>
          </a:bodyPr>
          <a:lstStyle/>
          <a:p>
            <a:pPr algn="l"/>
            <a:r>
              <a:rPr sz="900" b="0" i="1">
                <a:solidFill>
                  <a:srgbClr val="7A8FA5"/>
                </a:solidFill>
                <a:latin typeface="Calibri"/>
              </a:rPr>
              <a:t>Fig. 1.  Las cuatro filas son identicas → V_in irrelevante. El lineal optimo (V_in=5) iguala a las NN en 3 de 4 horizontes.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2C5EA0"/>
                </a:solidFill>
                <a:latin typeface="Consolas"/>
              </a:rPr>
              <a:t>§ 01</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Resultado de la Competicion — Tabla Resumen</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MAE test por horizonte · comparativa NN · Naive · Lineal</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457200" y="1508760"/>
          <a:ext cx="11247119" cy="1389888"/>
        </p:xfrm>
        <a:graphic>
          <a:graphicData uri="http://schemas.openxmlformats.org/drawingml/2006/table">
            <a:tbl>
              <a:tblPr firstRow="1" bandRow="1">
                <a:tableStyleId>{5C22544A-7EE6-4342-B048-85BDC9FD1C3A}</a:tableStyleId>
              </a:tblPr>
              <a:tblGrid>
                <a:gridCol w="1828800"/>
                <a:gridCol w="1417320"/>
                <a:gridCol w="1600200"/>
                <a:gridCol w="2240280"/>
                <a:gridCol w="2084831"/>
                <a:gridCol w="2075688"/>
              </a:tblGrid>
              <a:tr h="277977">
                <a:tc>
                  <a:txBody>
                    <a:bodyPr/>
                    <a:lstStyle/>
                    <a:p>
                      <a:pPr algn="l"/>
                      <a:r>
                        <a:rPr sz="900" b="1">
                          <a:solidFill>
                            <a:srgbClr val="FFFFFF"/>
                          </a:solidFill>
                          <a:latin typeface="Calibri"/>
                        </a:rPr>
                        <a:t>Horizonte</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MAE NN</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MAE Naive</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MAE Lineal (V_in=30)</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NN vs Naive</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NN vs Lineal</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277977">
                <a:tc>
                  <a:txBody>
                    <a:bodyPr/>
                    <a:lstStyle/>
                    <a:p>
                      <a:pPr algn="l"/>
                      <a:r>
                        <a:rPr sz="1100" b="0">
                          <a:solidFill>
                            <a:srgbClr val="16202E"/>
                          </a:solidFill>
                          <a:latin typeface="Calibri"/>
                        </a:rPr>
                        <a:t>V_out = 1d</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2C5EA0"/>
                          </a:solidFill>
                          <a:latin typeface="Calibri"/>
                        </a:rPr>
                        <a:t>0.0123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B03838"/>
                          </a:solidFill>
                          <a:latin typeface="Calibri"/>
                        </a:rPr>
                        <a:t>0.0178</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7A8FA5"/>
                          </a:solidFill>
                          <a:latin typeface="Calibri"/>
                        </a:rPr>
                        <a:t>0.0130</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34795A"/>
                          </a:solidFill>
                          <a:latin typeface="Calibri"/>
                        </a:rPr>
                        <a:t>−31 %</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34795A"/>
                          </a:solidFill>
                          <a:latin typeface="Calibri"/>
                        </a:rPr>
                        <a:t>−5.4 %</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77977">
                <a:tc>
                  <a:txBody>
                    <a:bodyPr/>
                    <a:lstStyle/>
                    <a:p>
                      <a:pPr algn="l"/>
                      <a:r>
                        <a:rPr sz="1100" b="0">
                          <a:solidFill>
                            <a:srgbClr val="16202E"/>
                          </a:solidFill>
                          <a:latin typeface="Calibri"/>
                        </a:rPr>
                        <a:t>V_out = 5d</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2C5EA0"/>
                          </a:solidFill>
                          <a:latin typeface="Calibri"/>
                        </a:rPr>
                        <a:t>0.0056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B03838"/>
                          </a:solidFill>
                          <a:latin typeface="Calibri"/>
                        </a:rPr>
                        <a:t>0.0137</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7A8FA5"/>
                          </a:solidFill>
                          <a:latin typeface="Calibri"/>
                        </a:rPr>
                        <a:t>0.0059</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34795A"/>
                          </a:solidFill>
                          <a:latin typeface="Calibri"/>
                        </a:rPr>
                        <a:t>−59 %</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34795A"/>
                          </a:solidFill>
                          <a:latin typeface="Calibri"/>
                        </a:rPr>
                        <a:t>−5.1 %</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77977">
                <a:tc>
                  <a:txBody>
                    <a:bodyPr/>
                    <a:lstStyle/>
                    <a:p>
                      <a:pPr algn="l"/>
                      <a:r>
                        <a:rPr sz="1100" b="0">
                          <a:solidFill>
                            <a:srgbClr val="16202E"/>
                          </a:solidFill>
                          <a:latin typeface="Calibri"/>
                        </a:rPr>
                        <a:t>V_out = 30d</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2C5EA0"/>
                          </a:solidFill>
                          <a:latin typeface="Calibri"/>
                        </a:rPr>
                        <a:t>0.0023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B03838"/>
                          </a:solidFill>
                          <a:latin typeface="Calibri"/>
                        </a:rPr>
                        <a:t>0.0125</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7A8FA5"/>
                          </a:solidFill>
                          <a:latin typeface="Calibri"/>
                        </a:rPr>
                        <a:t>0.0024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34795A"/>
                          </a:solidFill>
                          <a:latin typeface="Calibri"/>
                        </a:rPr>
                        <a:t>−82 %</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34795A"/>
                          </a:solidFill>
                          <a:latin typeface="Calibri"/>
                        </a:rPr>
                        <a:t>−4.2 %</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77980">
                <a:tc>
                  <a:txBody>
                    <a:bodyPr/>
                    <a:lstStyle/>
                    <a:p>
                      <a:pPr algn="l"/>
                      <a:r>
                        <a:rPr sz="1100" b="0">
                          <a:solidFill>
                            <a:srgbClr val="16202E"/>
                          </a:solidFill>
                          <a:latin typeface="Calibri"/>
                        </a:rPr>
                        <a:t>V_out = 90d</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2C5EA0"/>
                          </a:solidFill>
                          <a:latin typeface="Calibri"/>
                        </a:rPr>
                        <a:t>0.0013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B03838"/>
                          </a:solidFill>
                          <a:latin typeface="Calibri"/>
                        </a:rPr>
                        <a:t>0.0122</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7A8FA5"/>
                          </a:solidFill>
                          <a:latin typeface="Calibri"/>
                        </a:rPr>
                        <a:t>0.0014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34795A"/>
                          </a:solidFill>
                          <a:latin typeface="Calibri"/>
                        </a:rPr>
                        <a:t>−89 %</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100" b="0">
                          <a:solidFill>
                            <a:srgbClr val="34795A"/>
                          </a:solidFill>
                          <a:latin typeface="Calibri"/>
                        </a:rPr>
                        <a:t>−7.1 %</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
        <p:nvSpPr>
          <p:cNvPr id="7" name="TextBox 6"/>
          <p:cNvSpPr txBox="1"/>
          <p:nvPr/>
        </p:nvSpPr>
        <p:spPr>
          <a:xfrm>
            <a:off x="457200" y="2962656"/>
            <a:ext cx="11247120" cy="292608"/>
          </a:xfrm>
          <a:prstGeom prst="rect">
            <a:avLst/>
          </a:prstGeom>
          <a:noFill/>
        </p:spPr>
        <p:txBody>
          <a:bodyPr wrap="square">
            <a:normAutofit/>
          </a:bodyPr>
          <a:lstStyle/>
          <a:p>
            <a:pPr algn="l"/>
            <a:r>
              <a:rPr sz="950" b="0" i="1">
                <a:solidFill>
                  <a:srgbClr val="7A8FA5"/>
                </a:solidFill>
                <a:latin typeface="Calibri"/>
              </a:rPr>
              <a:t>★ Mejor lineal (V_in=5 · 2 668 params): MAE 0.0124 / 0.0056 / 0.0023 / 0.0013 — identico a NN en 3/4 horizontes. El lineal degrada con V_in mayor; la NN es invariante.</a:t>
            </a:r>
          </a:p>
        </p:txBody>
      </p:sp>
      <p:pic>
        <p:nvPicPr>
          <p:cNvPr id="8" name="Picture 7" descr="image.png"/>
          <p:cNvPicPr>
            <a:picLocks noChangeAspect="1"/>
          </p:cNvPicPr>
          <p:nvPr/>
        </p:nvPicPr>
        <p:blipFill>
          <a:blip r:embed="rId2"/>
          <a:stretch>
            <a:fillRect/>
          </a:stretch>
        </p:blipFill>
        <p:spPr>
          <a:xfrm>
            <a:off x="457200" y="3310128"/>
            <a:ext cx="11247120" cy="294436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2C5EA0"/>
                </a:solidFill>
                <a:latin typeface="Consolas"/>
              </a:rPr>
              <a:t>§ 02</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Reflexion sobre Modelos — 16 Arquitecturas</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V_in = 30 dias · Familias: Baseline, MLP, RNN, Conv1D, Mixtos</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pic>
        <p:nvPicPr>
          <p:cNvPr id="6" name="Picture 5" descr="image.png"/>
          <p:cNvPicPr>
            <a:picLocks noChangeAspect="1"/>
          </p:cNvPicPr>
          <p:nvPr/>
        </p:nvPicPr>
        <p:blipFill>
          <a:blip r:embed="rId2"/>
          <a:stretch>
            <a:fillRect/>
          </a:stretch>
        </p:blipFill>
        <p:spPr>
          <a:xfrm>
            <a:off x="457200" y="1508760"/>
            <a:ext cx="7315200" cy="4892040"/>
          </a:xfrm>
          <a:prstGeom prst="rect">
            <a:avLst/>
          </a:prstGeom>
        </p:spPr>
      </p:pic>
      <p:sp>
        <p:nvSpPr>
          <p:cNvPr id="7" name="TextBox 6"/>
          <p:cNvSpPr txBox="1"/>
          <p:nvPr/>
        </p:nvSpPr>
        <p:spPr>
          <a:xfrm>
            <a:off x="7909560" y="1508760"/>
            <a:ext cx="4069080" cy="237744"/>
          </a:xfrm>
          <a:prstGeom prst="rect">
            <a:avLst/>
          </a:prstGeom>
          <a:noFill/>
        </p:spPr>
        <p:txBody>
          <a:bodyPr wrap="square">
            <a:normAutofit/>
          </a:bodyPr>
          <a:lstStyle/>
          <a:p>
            <a:pPr algn="l"/>
            <a:r>
              <a:rPr sz="950" b="1" i="0">
                <a:solidFill>
                  <a:srgbClr val="4A5568"/>
                </a:solidFill>
                <a:latin typeface="Calibri"/>
              </a:rPr>
              <a:t>Tabla 3 — Mejor arquitectura por criterio</a:t>
            </a:r>
          </a:p>
        </p:txBody>
      </p:sp>
      <p:graphicFrame>
        <p:nvGraphicFramePr>
          <p:cNvPr id="8" name="Table 7"/>
          <p:cNvGraphicFramePr>
            <a:graphicFrameLocks noGrp="1"/>
          </p:cNvGraphicFramePr>
          <p:nvPr/>
        </p:nvGraphicFramePr>
        <p:xfrm>
          <a:off x="7909560" y="1764792"/>
          <a:ext cx="4069079" cy="1207008"/>
        </p:xfrm>
        <a:graphic>
          <a:graphicData uri="http://schemas.openxmlformats.org/drawingml/2006/table">
            <a:tbl>
              <a:tblPr firstRow="1" bandRow="1">
                <a:tableStyleId>{5C22544A-7EE6-4342-B048-85BDC9FD1C3A}</a:tableStyleId>
              </a:tblPr>
              <a:tblGrid>
                <a:gridCol w="1874519"/>
                <a:gridCol w="1417320"/>
                <a:gridCol w="777240"/>
              </a:tblGrid>
              <a:tr h="241401">
                <a:tc>
                  <a:txBody>
                    <a:bodyPr/>
                    <a:lstStyle/>
                    <a:p>
                      <a:pPr algn="l"/>
                      <a:r>
                        <a:rPr sz="900" b="1">
                          <a:solidFill>
                            <a:srgbClr val="FFFFFF"/>
                          </a:solidFill>
                          <a:latin typeface="Calibri"/>
                        </a:rPr>
                        <a:t>Criterio</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Modelo</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Params</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241401">
                <a:tc>
                  <a:txBody>
                    <a:bodyPr/>
                    <a:lstStyle/>
                    <a:p>
                      <a:pPr algn="l"/>
                      <a:r>
                        <a:rPr sz="1000" b="0">
                          <a:solidFill>
                            <a:srgbClr val="16202E"/>
                          </a:solidFill>
                          <a:latin typeface="Calibri"/>
                        </a:rPr>
                        <a:t>Minimos params</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simple_rnn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2 551</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41401">
                <a:tc>
                  <a:txBody>
                    <a:bodyPr/>
                    <a:lstStyle/>
                    <a:p>
                      <a:pPr algn="l"/>
                      <a:r>
                        <a:rPr sz="1000" b="0">
                          <a:solidFill>
                            <a:srgbClr val="16202E"/>
                          </a:solidFill>
                          <a:latin typeface="Calibri"/>
                        </a:rPr>
                        <a:t>Mejor ratio</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conv_dense</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10 135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41401">
                <a:tc>
                  <a:txBody>
                    <a:bodyPr/>
                    <a:lstStyle/>
                    <a:p>
                      <a:pPr algn="l"/>
                      <a:r>
                        <a:rPr sz="1000" b="0">
                          <a:solidFill>
                            <a:srgbClr val="16202E"/>
                          </a:solidFill>
                          <a:latin typeface="Calibri"/>
                        </a:rPr>
                        <a:t>Con regularizacion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lstm_drop</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24 023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41404">
                <a:tc>
                  <a:txBody>
                    <a:bodyPr/>
                    <a:lstStyle/>
                    <a:p>
                      <a:pPr algn="l"/>
                      <a:r>
                        <a:rPr sz="1000" b="0">
                          <a:solidFill>
                            <a:srgbClr val="16202E"/>
                          </a:solidFill>
                          <a:latin typeface="Calibri"/>
                        </a:rPr>
                        <a:t>Referencia sin NN</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lineal (V_in=5)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00" b="0">
                          <a:solidFill>
                            <a:srgbClr val="16202E"/>
                          </a:solidFill>
                          <a:latin typeface="Calibri"/>
                        </a:rPr>
                        <a:t>2 668</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
        <p:nvSpPr>
          <p:cNvPr id="9" name="Rectangle 8"/>
          <p:cNvSpPr/>
          <p:nvPr/>
        </p:nvSpPr>
        <p:spPr>
          <a:xfrm>
            <a:off x="7909560" y="3090672"/>
            <a:ext cx="4069080" cy="3310128"/>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09560" y="3090672"/>
            <a:ext cx="4069080" cy="36576"/>
          </a:xfrm>
          <a:prstGeom prst="rect">
            <a:avLst/>
          </a:prstGeom>
          <a:solidFill>
            <a:srgbClr val="347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3163824"/>
            <a:ext cx="3794760" cy="237744"/>
          </a:xfrm>
          <a:prstGeom prst="rect">
            <a:avLst/>
          </a:prstGeom>
          <a:noFill/>
        </p:spPr>
        <p:txBody>
          <a:bodyPr wrap="square">
            <a:normAutofit/>
          </a:bodyPr>
          <a:lstStyle/>
          <a:p>
            <a:pPr algn="l"/>
            <a:r>
              <a:rPr sz="800" b="1" i="0">
                <a:solidFill>
                  <a:srgbClr val="34795A"/>
                </a:solidFill>
                <a:latin typeface="Consolas"/>
              </a:rPr>
              <a:t>CONCLUSION DE DISENO</a:t>
            </a:r>
          </a:p>
        </p:txBody>
      </p:sp>
      <p:sp>
        <p:nvSpPr>
          <p:cNvPr id="12" name="TextBox 11"/>
          <p:cNvSpPr txBox="1"/>
          <p:nvPr/>
        </p:nvSpPr>
        <p:spPr>
          <a:xfrm>
            <a:off x="8046720" y="3401568"/>
            <a:ext cx="3794760" cy="2962656"/>
          </a:xfrm>
          <a:prstGeom prst="rect">
            <a:avLst/>
          </a:prstGeom>
          <a:noFill/>
        </p:spPr>
        <p:txBody>
          <a:bodyPr wrap="square">
            <a:normAutofit/>
          </a:bodyPr>
          <a:lstStyle/>
          <a:p>
            <a:pPr algn="l"/>
            <a:r>
              <a:rPr sz="1000" b="0" i="0">
                <a:solidFill>
                  <a:srgbClr val="16202E"/>
                </a:solidFill>
                <a:latin typeface="Calibri"/>
              </a:rPr>
              <a:t>lineal(V_in=5) iguala el MAE de cualquier NN en 3/4 horizontes con una fraccion de los parametros.
Anadir profundidad, regularizacion o mas datos no resuelve el problema porque no hay senal que aprender en los retornos pasados bajo EMH.
El unico camino real: cambiar que informacion entra al modelo (log-precio fraccional) o el objetivo de la tarea (clasificar direccion en vez de regresar nivel).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2C5EA0"/>
                </a:solidFill>
                <a:latin typeface="Consolas"/>
              </a:rPr>
              <a:t>§ 02</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Comparativa de Modelos — MAE por Horizonte</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V_in = 30 · Todas las familias</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457200" y="1508760"/>
          <a:ext cx="11247120" cy="4892040"/>
        </p:xfrm>
        <a:graphic>
          <a:graphicData uri="http://schemas.openxmlformats.org/drawingml/2006/table">
            <a:tbl>
              <a:tblPr firstRow="1" bandRow="1">
                <a:tableStyleId>{5C22544A-7EE6-4342-B048-85BDC9FD1C3A}</a:tableStyleId>
              </a:tblPr>
              <a:tblGrid>
                <a:gridCol w="1920240"/>
                <a:gridCol w="1097280"/>
                <a:gridCol w="1005840"/>
                <a:gridCol w="1810512"/>
                <a:gridCol w="1810512"/>
                <a:gridCol w="1810512"/>
                <a:gridCol w="1792224"/>
              </a:tblGrid>
              <a:tr h="257475">
                <a:tc>
                  <a:txBody>
                    <a:bodyPr/>
                    <a:lstStyle/>
                    <a:p>
                      <a:pPr algn="l"/>
                      <a:r>
                        <a:rPr sz="900" b="1">
                          <a:solidFill>
                            <a:srgbClr val="FFFFFF"/>
                          </a:solidFill>
                          <a:latin typeface="Calibri"/>
                        </a:rPr>
                        <a:t>Modelo</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Familia</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Params</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MAE 1d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MAE 5d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MAE 30d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MAE 90d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naive</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Baseline</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0</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B03838"/>
                          </a:solidFill>
                          <a:latin typeface="Calibri"/>
                        </a:rPr>
                        <a:t>0.0178</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0.0137</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0.0125</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0.0122</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lineal (V_in=5)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Baseline</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2,668</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lineal (V_in=30)</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Baseline</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15,963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0.0130</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0.0059</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lineal (V_in=90)</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Baseline</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47,853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B03838"/>
                          </a:solidFill>
                          <a:latin typeface="Calibri"/>
                        </a:rPr>
                        <a:t>0.0143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0.0065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0.0027</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0.0015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mlp_s</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MLP</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45,719</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simple_rnn</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RNN</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2,551</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gru</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RNN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6,135</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lstm</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RNN</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7,927</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lstm_stack</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RNN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27,143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bi_gru</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RNN</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11,511</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0.0057</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lstm_drop</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RNN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24,023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conv_s</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Conv1D</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51,287</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conv_lstm_ln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Mixto</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11,319</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conv_gru_bott.</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Mixto</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11,079</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conv_bilstm</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Mixto</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14,615</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conv2_lstm</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Mixto</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36,871</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57475">
                <a:tc>
                  <a:txBody>
                    <a:bodyPr/>
                    <a:lstStyle/>
                    <a:p>
                      <a:pPr algn="l"/>
                      <a:r>
                        <a:rPr sz="950" b="0">
                          <a:solidFill>
                            <a:srgbClr val="16202E"/>
                          </a:solidFill>
                          <a:latin typeface="Calibri"/>
                        </a:rPr>
                        <a:t>lstm_dense</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Mixto</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28,183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57490">
                <a:tc>
                  <a:txBody>
                    <a:bodyPr/>
                    <a:lstStyle/>
                    <a:p>
                      <a:pPr algn="l"/>
                      <a:r>
                        <a:rPr sz="950" b="0">
                          <a:solidFill>
                            <a:srgbClr val="16202E"/>
                          </a:solidFill>
                          <a:latin typeface="Calibri"/>
                        </a:rPr>
                        <a:t>conv_dense</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Mixto</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10,135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0.0123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0.0056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0.0023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0.0013</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6A4A9E"/>
                </a:solidFill>
                <a:latin typeface="Consolas"/>
              </a:rPr>
              <a:t>§ 03</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Preprocesado Avanzado — Diferenciacion Fraccional (FFD)</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Marcos Lopez de Prado · LSTM(64) de referencia · V_in=30</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508760"/>
            <a:ext cx="6217920" cy="1874519"/>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08760"/>
            <a:ext cx="6217920" cy="36576"/>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81912"/>
            <a:ext cx="5943600" cy="237744"/>
          </a:xfrm>
          <a:prstGeom prst="rect">
            <a:avLst/>
          </a:prstGeom>
          <a:noFill/>
        </p:spPr>
        <p:txBody>
          <a:bodyPr wrap="square">
            <a:normAutofit/>
          </a:bodyPr>
          <a:lstStyle/>
          <a:p>
            <a:pPr algn="l"/>
            <a:r>
              <a:rPr sz="800" b="1" i="0">
                <a:solidFill>
                  <a:srgbClr val="6A4A9E"/>
                </a:solidFill>
                <a:latin typeface="Consolas"/>
              </a:rPr>
              <a:t>QUE ES FFD</a:t>
            </a:r>
          </a:p>
        </p:txBody>
      </p:sp>
      <p:sp>
        <p:nvSpPr>
          <p:cNvPr id="9" name="TextBox 8"/>
          <p:cNvSpPr txBox="1"/>
          <p:nvPr/>
        </p:nvSpPr>
        <p:spPr>
          <a:xfrm>
            <a:off x="594360" y="1819656"/>
            <a:ext cx="5943600" cy="1527047"/>
          </a:xfrm>
          <a:prstGeom prst="rect">
            <a:avLst/>
          </a:prstGeom>
          <a:noFill/>
        </p:spPr>
        <p:txBody>
          <a:bodyPr wrap="square">
            <a:normAutofit/>
          </a:bodyPr>
          <a:lstStyle/>
          <a:p>
            <a:pPr algn="l"/>
            <a:r>
              <a:rPr sz="1000" b="0" i="0">
                <a:solidFill>
                  <a:srgbClr val="16202E"/>
                </a:solidFill>
                <a:latin typeface="Calibri"/>
              </a:rPr>
              <a:t>Tecnica de M. Lopez de Prado (Advances in Financial ML, cap. 5). Aplica diferenciacion de orden d fraccionario sobre el log-precio, con pesos w_k que decaen cuando |w_k| &lt; 1e-5.
A diferencia de retornos (d=1, sin memoria) o precio (d=0, no estacionario), d aprox. 0.2 preserva autocorrelacion a largo plazo manteniendo la serie estacionaria. Hipotesis: el log-precio fraccional tiene estructura explotable que los retornos destruyen.</a:t>
            </a:r>
          </a:p>
        </p:txBody>
      </p:sp>
      <p:pic>
        <p:nvPicPr>
          <p:cNvPr id="10" name="Picture 9" descr="image.png"/>
          <p:cNvPicPr>
            <a:picLocks noChangeAspect="1"/>
          </p:cNvPicPr>
          <p:nvPr/>
        </p:nvPicPr>
        <p:blipFill>
          <a:blip r:embed="rId2"/>
          <a:stretch>
            <a:fillRect/>
          </a:stretch>
        </p:blipFill>
        <p:spPr>
          <a:xfrm>
            <a:off x="457200" y="3493008"/>
            <a:ext cx="6217920" cy="2862072"/>
          </a:xfrm>
          <a:prstGeom prst="rect">
            <a:avLst/>
          </a:prstGeom>
        </p:spPr>
      </p:pic>
      <p:pic>
        <p:nvPicPr>
          <p:cNvPr id="11" name="Picture 10" descr="image.png"/>
          <p:cNvPicPr>
            <a:picLocks noChangeAspect="1"/>
          </p:cNvPicPr>
          <p:nvPr/>
        </p:nvPicPr>
        <p:blipFill>
          <a:blip r:embed="rId3"/>
          <a:stretch>
            <a:fillRect/>
          </a:stretch>
        </p:blipFill>
        <p:spPr>
          <a:xfrm>
            <a:off x="6812280" y="1508760"/>
            <a:ext cx="5120640" cy="2926080"/>
          </a:xfrm>
          <a:prstGeom prst="rect">
            <a:avLst/>
          </a:prstGeom>
        </p:spPr>
      </p:pic>
      <p:sp>
        <p:nvSpPr>
          <p:cNvPr id="12" name="TextBox 11"/>
          <p:cNvSpPr txBox="1"/>
          <p:nvPr/>
        </p:nvSpPr>
        <p:spPr>
          <a:xfrm>
            <a:off x="6812280" y="4526280"/>
            <a:ext cx="5120640" cy="237744"/>
          </a:xfrm>
          <a:prstGeom prst="rect">
            <a:avLst/>
          </a:prstGeom>
          <a:noFill/>
        </p:spPr>
        <p:txBody>
          <a:bodyPr wrap="square">
            <a:normAutofit/>
          </a:bodyPr>
          <a:lstStyle/>
          <a:p>
            <a:pPr algn="l"/>
            <a:r>
              <a:rPr sz="950" b="1" i="0">
                <a:solidFill>
                  <a:srgbClr val="4A5568"/>
                </a:solidFill>
                <a:latin typeface="Calibri"/>
              </a:rPr>
              <a:t>Tabla 4 — Resumen global · V_in=30</a:t>
            </a:r>
          </a:p>
        </p:txBody>
      </p:sp>
      <p:graphicFrame>
        <p:nvGraphicFramePr>
          <p:cNvPr id="13" name="Table 12"/>
          <p:cNvGraphicFramePr>
            <a:graphicFrameLocks noGrp="1"/>
          </p:cNvGraphicFramePr>
          <p:nvPr/>
        </p:nvGraphicFramePr>
        <p:xfrm>
          <a:off x="6812280" y="4773168"/>
          <a:ext cx="5120640" cy="1828800"/>
        </p:xfrm>
        <a:graphic>
          <a:graphicData uri="http://schemas.openxmlformats.org/drawingml/2006/table">
            <a:tbl>
              <a:tblPr firstRow="1" bandRow="1">
                <a:tableStyleId>{5C22544A-7EE6-4342-B048-85BDC9FD1C3A}</a:tableStyleId>
              </a:tblPr>
              <a:tblGrid>
                <a:gridCol w="1828800"/>
                <a:gridCol w="713232"/>
                <a:gridCol w="841248"/>
                <a:gridCol w="713232"/>
                <a:gridCol w="1024128"/>
              </a:tblGrid>
              <a:tr h="261257">
                <a:tc>
                  <a:txBody>
                    <a:bodyPr/>
                    <a:lstStyle/>
                    <a:p>
                      <a:pPr algn="l"/>
                      <a:r>
                        <a:rPr sz="900" b="1">
                          <a:solidFill>
                            <a:srgbClr val="FFFFFF"/>
                          </a:solidFill>
                          <a:latin typeface="Calibri"/>
                        </a:rPr>
                        <a:t>Tecnica</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MAE 1d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Delta</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MAE 30d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Delta</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261257">
                <a:tc>
                  <a:txBody>
                    <a:bodyPr/>
                    <a:lstStyle/>
                    <a:p>
                      <a:pPr algn="l"/>
                      <a:r>
                        <a:rPr sz="900" b="0">
                          <a:solidFill>
                            <a:srgbClr val="16202E"/>
                          </a:solidFill>
                          <a:latin typeface="Calibri"/>
                        </a:rPr>
                        <a:t>Crudo (baseline)</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0.0123</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7A8FA5"/>
                          </a:solidFill>
                          <a:latin typeface="Calibri"/>
                        </a:rPr>
                        <a:t>—</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0.0024</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7A8FA5"/>
                          </a:solidFill>
                          <a:latin typeface="Calibri"/>
                        </a:rPr>
                        <a:t>—</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61257">
                <a:tc>
                  <a:txBody>
                    <a:bodyPr/>
                    <a:lstStyle/>
                    <a:p>
                      <a:pPr algn="l"/>
                      <a:r>
                        <a:rPr sz="900" b="0">
                          <a:solidFill>
                            <a:srgbClr val="16202E"/>
                          </a:solidFill>
                          <a:latin typeface="Calibri"/>
                        </a:rPr>
                        <a:t>StandardScaler</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0.0128</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B03838"/>
                          </a:solidFill>
                          <a:latin typeface="Calibri"/>
                        </a:rPr>
                        <a:t>+4.1% X</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0.0026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B03838"/>
                          </a:solidFill>
                          <a:latin typeface="Calibri"/>
                        </a:rPr>
                        <a:t>+8.3% X</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61257">
                <a:tc>
                  <a:txBody>
                    <a:bodyPr/>
                    <a:lstStyle/>
                    <a:p>
                      <a:pPr algn="l"/>
                      <a:r>
                        <a:rPr sz="900" b="0">
                          <a:solidFill>
                            <a:srgbClr val="16202E"/>
                          </a:solidFill>
                          <a:latin typeface="Calibri"/>
                        </a:rPr>
                        <a:t>Rolling Z-score</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0.0126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B03838"/>
                          </a:solidFill>
                          <a:latin typeface="Calibri"/>
                        </a:rPr>
                        <a:t>+2.4% X</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0.0026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B03838"/>
                          </a:solidFill>
                          <a:latin typeface="Calibri"/>
                        </a:rPr>
                        <a:t>+8.3% X</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61257">
                <a:tc>
                  <a:txBody>
                    <a:bodyPr/>
                    <a:lstStyle/>
                    <a:p>
                      <a:pPr algn="l"/>
                      <a:r>
                        <a:rPr sz="900" b="0">
                          <a:solidFill>
                            <a:srgbClr val="16202E"/>
                          </a:solidFill>
                          <a:latin typeface="Calibri"/>
                        </a:rPr>
                        <a:t>FFD (d=0.4)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0.0114</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34795A"/>
                          </a:solidFill>
                          <a:latin typeface="Calibri"/>
                        </a:rPr>
                        <a:t>-7.3% OK</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0.0025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7A8FA5"/>
                          </a:solidFill>
                          <a:latin typeface="Calibri"/>
                        </a:rPr>
                        <a:t>+4.2%</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261257">
                <a:tc>
                  <a:txBody>
                    <a:bodyPr/>
                    <a:lstStyle/>
                    <a:p>
                      <a:pPr algn="l"/>
                      <a:r>
                        <a:rPr sz="900" b="0">
                          <a:solidFill>
                            <a:srgbClr val="16202E"/>
                          </a:solidFill>
                          <a:latin typeface="Calibri"/>
                        </a:rPr>
                        <a:t>FFD (d=0.2) * Ext.A</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0.0112</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34795A"/>
                          </a:solidFill>
                          <a:latin typeface="Calibri"/>
                        </a:rPr>
                        <a:t>-8.9% OK</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7A8FA5"/>
                          </a:solidFill>
                          <a:latin typeface="Calibri"/>
                        </a:rPr>
                        <a:t>—</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261258">
                <a:tc>
                  <a:txBody>
                    <a:bodyPr/>
                    <a:lstStyle/>
                    <a:p>
                      <a:pPr algn="l"/>
                      <a:r>
                        <a:rPr sz="900" b="0">
                          <a:solidFill>
                            <a:srgbClr val="16202E"/>
                          </a:solidFill>
                          <a:latin typeface="Calibri"/>
                        </a:rPr>
                        <a:t>FFD d=0.2 Ext.B V30d</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0.0112</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34795A"/>
                          </a:solidFill>
                          <a:latin typeface="Calibri"/>
                        </a:rPr>
                        <a:t>-8.9% OK</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16202E"/>
                          </a:solidFill>
                          <a:latin typeface="Calibri"/>
                        </a:rPr>
                        <a:t>0.0035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0">
                          <a:solidFill>
                            <a:srgbClr val="B03838"/>
                          </a:solidFill>
                          <a:latin typeface="Calibri"/>
                        </a:rPr>
                        <a:t>+45.8% X</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6A4A9E"/>
                </a:solidFill>
                <a:latin typeface="Consolas"/>
              </a:rPr>
              <a:t>§ 03</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FFD — Extension B: Todos los Horizontes</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La mejora es exclusiva de V_out=1d; en V_out=30d empeora +45.8%</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pic>
        <p:nvPicPr>
          <p:cNvPr id="6" name="Picture 5" descr="image.png"/>
          <p:cNvPicPr>
            <a:picLocks noChangeAspect="1"/>
          </p:cNvPicPr>
          <p:nvPr/>
        </p:nvPicPr>
        <p:blipFill>
          <a:blip r:embed="rId2"/>
          <a:stretch>
            <a:fillRect/>
          </a:stretch>
        </p:blipFill>
        <p:spPr>
          <a:xfrm>
            <a:off x="457200" y="1508760"/>
            <a:ext cx="8412480" cy="3383280"/>
          </a:xfrm>
          <a:prstGeom prst="rect">
            <a:avLst/>
          </a:prstGeom>
        </p:spPr>
      </p:pic>
      <p:sp>
        <p:nvSpPr>
          <p:cNvPr id="7" name="Rectangle 6"/>
          <p:cNvSpPr/>
          <p:nvPr/>
        </p:nvSpPr>
        <p:spPr>
          <a:xfrm>
            <a:off x="9006840" y="1508760"/>
            <a:ext cx="2926080" cy="3383280"/>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006840" y="1508760"/>
            <a:ext cx="2926080" cy="36576"/>
          </a:xfrm>
          <a:prstGeom prst="rect">
            <a:avLst/>
          </a:prstGeom>
          <a:solidFill>
            <a:srgbClr val="6A4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1581912"/>
            <a:ext cx="2651760" cy="237744"/>
          </a:xfrm>
          <a:prstGeom prst="rect">
            <a:avLst/>
          </a:prstGeom>
          <a:noFill/>
        </p:spPr>
        <p:txBody>
          <a:bodyPr wrap="square">
            <a:normAutofit/>
          </a:bodyPr>
          <a:lstStyle/>
          <a:p>
            <a:pPr algn="l"/>
            <a:r>
              <a:rPr sz="800" b="1" i="0">
                <a:solidFill>
                  <a:srgbClr val="6A4A9E"/>
                </a:solidFill>
                <a:latin typeface="Consolas"/>
              </a:rPr>
              <a:t>CONCLUSION DE PREPROCESADO</a:t>
            </a:r>
          </a:p>
        </p:txBody>
      </p:sp>
      <p:sp>
        <p:nvSpPr>
          <p:cNvPr id="10" name="TextBox 9"/>
          <p:cNvSpPr txBox="1"/>
          <p:nvPr/>
        </p:nvSpPr>
        <p:spPr>
          <a:xfrm>
            <a:off x="9144000" y="1819656"/>
            <a:ext cx="2651760" cy="3035808"/>
          </a:xfrm>
          <a:prstGeom prst="rect">
            <a:avLst/>
          </a:prstGeom>
          <a:noFill/>
        </p:spPr>
        <p:txBody>
          <a:bodyPr wrap="square">
            <a:normAutofit/>
          </a:bodyPr>
          <a:lstStyle/>
          <a:p>
            <a:pPr algn="l"/>
            <a:r>
              <a:rPr sz="1000" b="0" i="0">
                <a:solidFill>
                  <a:srgbClr val="16202E"/>
                </a:solidFill>
                <a:latin typeface="Calibri"/>
              </a:rPr>
              <a:t>El preprocesado optimo depende del horizonte:
  - FFD(d=0.2) para V_out=1d → −8.9% sobre crudo
  - Retornos crudos para V_out &gt;= 5d
La memoria fraccional captura tendencia muy corta pero introduce ruido a largo plazo.
El cuello de botella no es la arquitectura ni el preprocesado — es la senal disponible.</a:t>
            </a:r>
          </a:p>
        </p:txBody>
      </p:sp>
      <p:sp>
        <p:nvSpPr>
          <p:cNvPr id="11" name="TextBox 10"/>
          <p:cNvSpPr txBox="1"/>
          <p:nvPr/>
        </p:nvSpPr>
        <p:spPr>
          <a:xfrm>
            <a:off x="457200" y="4983480"/>
            <a:ext cx="8412480" cy="256032"/>
          </a:xfrm>
          <a:prstGeom prst="rect">
            <a:avLst/>
          </a:prstGeom>
          <a:noFill/>
        </p:spPr>
        <p:txBody>
          <a:bodyPr wrap="square">
            <a:normAutofit/>
          </a:bodyPr>
          <a:lstStyle/>
          <a:p>
            <a:pPr algn="l"/>
            <a:r>
              <a:rPr sz="900" b="0" i="1">
                <a:solidFill>
                  <a:srgbClr val="7A8FA5"/>
                </a:solidFill>
                <a:latin typeface="Calibri"/>
              </a:rPr>
              <a:t>Fig. 6.  Mejora exclusiva de V_out=1d (−8.9%); en V_out=30d empeora +45.8%.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8A6520"/>
                </a:solidFill>
                <a:latin typeface="Consolas"/>
              </a:rPr>
              <a:t>§ 04</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Carteras 2025 — Resultados Reales</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MLP Dense(64) · V_in=10 · V_out=90 · rebalanceo modelo cada 90 dias · 249 dias de trading</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pic>
        <p:nvPicPr>
          <p:cNvPr id="6" name="Picture 5" descr="image.png"/>
          <p:cNvPicPr>
            <a:picLocks noChangeAspect="1"/>
          </p:cNvPicPr>
          <p:nvPr/>
        </p:nvPicPr>
        <p:blipFill>
          <a:blip r:embed="rId2"/>
          <a:stretch>
            <a:fillRect/>
          </a:stretch>
        </p:blipFill>
        <p:spPr>
          <a:xfrm>
            <a:off x="457200" y="1508760"/>
            <a:ext cx="7772400" cy="3108960"/>
          </a:xfrm>
          <a:prstGeom prst="rect">
            <a:avLst/>
          </a:prstGeom>
        </p:spPr>
      </p:pic>
      <p:sp>
        <p:nvSpPr>
          <p:cNvPr id="7" name="TextBox 6"/>
          <p:cNvSpPr txBox="1"/>
          <p:nvPr/>
        </p:nvSpPr>
        <p:spPr>
          <a:xfrm>
            <a:off x="8366760" y="1508760"/>
            <a:ext cx="3611880" cy="237744"/>
          </a:xfrm>
          <a:prstGeom prst="rect">
            <a:avLst/>
          </a:prstGeom>
          <a:noFill/>
        </p:spPr>
        <p:txBody>
          <a:bodyPr wrap="square">
            <a:normAutofit/>
          </a:bodyPr>
          <a:lstStyle/>
          <a:p>
            <a:pPr algn="l"/>
            <a:r>
              <a:rPr sz="950" b="1" i="0">
                <a:solidFill>
                  <a:srgbClr val="4A5568"/>
                </a:solidFill>
                <a:latin typeface="Calibri"/>
              </a:rPr>
              <a:t>Tabla 5 — Metricas de portfolio · rf = 0</a:t>
            </a:r>
          </a:p>
        </p:txBody>
      </p:sp>
      <p:graphicFrame>
        <p:nvGraphicFramePr>
          <p:cNvPr id="8" name="Table 7"/>
          <p:cNvGraphicFramePr>
            <a:graphicFrameLocks noGrp="1"/>
          </p:cNvGraphicFramePr>
          <p:nvPr/>
        </p:nvGraphicFramePr>
        <p:xfrm>
          <a:off x="8366760" y="1764792"/>
          <a:ext cx="3611880" cy="932688"/>
        </p:xfrm>
        <a:graphic>
          <a:graphicData uri="http://schemas.openxmlformats.org/drawingml/2006/table">
            <a:tbl>
              <a:tblPr firstRow="1" bandRow="1">
                <a:tableStyleId>{5C22544A-7EE6-4342-B048-85BDC9FD1C3A}</a:tableStyleId>
              </a:tblPr>
              <a:tblGrid>
                <a:gridCol w="1097280"/>
                <a:gridCol w="658368"/>
                <a:gridCol w="594360"/>
                <a:gridCol w="594360"/>
                <a:gridCol w="667512"/>
              </a:tblGrid>
              <a:tr h="310896">
                <a:tc>
                  <a:txBody>
                    <a:bodyPr/>
                    <a:lstStyle/>
                    <a:p>
                      <a:pPr algn="l"/>
                      <a:r>
                        <a:rPr sz="900" b="1">
                          <a:solidFill>
                            <a:srgbClr val="FFFFFF"/>
                          </a:solidFill>
                          <a:latin typeface="Calibri"/>
                        </a:rPr>
                        <a:t>Cartera</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Ret. total</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Sharpe</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Sortino</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MaxDD</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310896">
                <a:tc>
                  <a:txBody>
                    <a:bodyPr/>
                    <a:lstStyle/>
                    <a:p>
                      <a:pPr algn="l"/>
                      <a:r>
                        <a:rPr sz="950" b="0">
                          <a:solidFill>
                            <a:srgbClr val="B03838"/>
                          </a:solidFill>
                          <a:latin typeface="Calibri"/>
                        </a:rPr>
                        <a:t>Cartera NN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+16.96%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1.296</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34795A"/>
                          </a:solidFill>
                          <a:latin typeface="Calibri"/>
                        </a:rPr>
                        <a:t>1.588</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B03838"/>
                          </a:solidFill>
                          <a:latin typeface="Calibri"/>
                        </a:rPr>
                        <a:t>-10.75%</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310896">
                <a:tc>
                  <a:txBody>
                    <a:bodyPr/>
                    <a:lstStyle/>
                    <a:p>
                      <a:pPr algn="l"/>
                      <a:r>
                        <a:rPr sz="950" b="0">
                          <a:solidFill>
                            <a:srgbClr val="34795A"/>
                          </a:solidFill>
                          <a:latin typeface="Calibri"/>
                        </a:rPr>
                        <a:t>Buy &amp; Hold</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+16.82%</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1.289</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16202E"/>
                          </a:solidFill>
                          <a:latin typeface="Calibri"/>
                        </a:rPr>
                        <a:t>1.566</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50" b="0">
                          <a:solidFill>
                            <a:srgbClr val="B03838"/>
                          </a:solidFill>
                          <a:latin typeface="Calibri"/>
                        </a:rPr>
                        <a:t>-10.85%</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
        <p:nvSpPr>
          <p:cNvPr id="9" name="Rectangle 8"/>
          <p:cNvSpPr/>
          <p:nvPr/>
        </p:nvSpPr>
        <p:spPr>
          <a:xfrm>
            <a:off x="8366760" y="2816352"/>
            <a:ext cx="3611880" cy="1874519"/>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66760" y="2816352"/>
            <a:ext cx="3611880" cy="36576"/>
          </a:xfrm>
          <a:prstGeom prst="rect">
            <a:avLst/>
          </a:prstGeom>
          <a:solidFill>
            <a:srgbClr val="8A6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2889504"/>
            <a:ext cx="3337560" cy="237744"/>
          </a:xfrm>
          <a:prstGeom prst="rect">
            <a:avLst/>
          </a:prstGeom>
          <a:noFill/>
        </p:spPr>
        <p:txBody>
          <a:bodyPr wrap="square">
            <a:normAutofit/>
          </a:bodyPr>
          <a:lstStyle/>
          <a:p>
            <a:pPr algn="l"/>
            <a:r>
              <a:rPr sz="800" b="1" i="0">
                <a:solidFill>
                  <a:srgbClr val="8A6520"/>
                </a:solidFill>
                <a:latin typeface="Consolas"/>
              </a:rPr>
              <a:t>HALLAZGO — CARTERA NN EFECTIVAMENTE LONG-ONLY</a:t>
            </a:r>
          </a:p>
        </p:txBody>
      </p:sp>
      <p:sp>
        <p:nvSpPr>
          <p:cNvPr id="12" name="TextBox 11"/>
          <p:cNvSpPr txBox="1"/>
          <p:nvPr/>
        </p:nvSpPr>
        <p:spPr>
          <a:xfrm>
            <a:off x="8503920" y="3127248"/>
            <a:ext cx="3337560" cy="1527047"/>
          </a:xfrm>
          <a:prstGeom prst="rect">
            <a:avLst/>
          </a:prstGeom>
          <a:noFill/>
        </p:spPr>
        <p:txBody>
          <a:bodyPr wrap="square">
            <a:normAutofit/>
          </a:bodyPr>
          <a:lstStyle/>
          <a:p>
            <a:pPr algn="l"/>
            <a:r>
              <a:rPr sz="1000" b="0" i="0">
                <a:solidFill>
                  <a:srgbClr val="16202E"/>
                </a:solidFill>
                <a:latin typeface="Calibri"/>
              </a:rPr>
              <a:t>El modelo predice retornos positivos para los 23 activos en los 3 rebalanceos (2025-01-03, 2025-05-15, 2025-09-24) con exactamente los mismos valores: IP +0.00029 (2.54%) → KR +0.00077 (6.84%).
La Cartera NN no es long/short: es long-only con pesos distintos al uniforme. La diferencia marginal (+0.14 pp) se debe solo a las ponderaciones. El colapso a la media del MAE se refleja como colapso a la cartera uniforme.</a:t>
            </a:r>
          </a:p>
        </p:txBody>
      </p:sp>
      <p:sp>
        <p:nvSpPr>
          <p:cNvPr id="13" name="TextBox 12"/>
          <p:cNvSpPr txBox="1"/>
          <p:nvPr/>
        </p:nvSpPr>
        <p:spPr>
          <a:xfrm>
            <a:off x="457200" y="4709160"/>
            <a:ext cx="7772400" cy="237744"/>
          </a:xfrm>
          <a:prstGeom prst="rect">
            <a:avLst/>
          </a:prstGeom>
          <a:noFill/>
        </p:spPr>
        <p:txBody>
          <a:bodyPr wrap="square">
            <a:normAutofit/>
          </a:bodyPr>
          <a:lstStyle/>
          <a:p>
            <a:pPr algn="l"/>
            <a:r>
              <a:rPr sz="950" b="1" i="0">
                <a:solidFill>
                  <a:srgbClr val="4A5568"/>
                </a:solidFill>
                <a:latin typeface="Calibri"/>
              </a:rPr>
              <a:t>Metodologia ejecutada</a:t>
            </a:r>
          </a:p>
        </p:txBody>
      </p:sp>
      <p:sp>
        <p:nvSpPr>
          <p:cNvPr id="14" name="TextBox 13"/>
          <p:cNvSpPr txBox="1"/>
          <p:nvPr/>
        </p:nvSpPr>
        <p:spPr>
          <a:xfrm>
            <a:off x="457200" y="4983480"/>
            <a:ext cx="7772400" cy="384048"/>
          </a:xfrm>
          <a:prstGeom prst="rect">
            <a:avLst/>
          </a:prstGeom>
          <a:noFill/>
        </p:spPr>
        <p:txBody>
          <a:bodyPr wrap="square">
            <a:normAutofit/>
          </a:bodyPr>
          <a:lstStyle/>
          <a:p>
            <a:pPr algn="l"/>
            <a:r>
              <a:rPr sz="950" b="0" i="0">
                <a:solidFill>
                  <a:srgbClr val="16202E"/>
                </a:solidFill>
                <a:latin typeface="Calibri"/>
              </a:rPr>
              <a:t>1.  MLP Dense(64, L2=1e-4) → Dense(23) · V_in=10 · V_out=90 · 300 epocas · historico 1945–2024</a:t>
            </a:r>
          </a:p>
        </p:txBody>
      </p:sp>
      <p:sp>
        <p:nvSpPr>
          <p:cNvPr id="15" name="TextBox 14"/>
          <p:cNvSpPr txBox="1"/>
          <p:nvPr/>
        </p:nvSpPr>
        <p:spPr>
          <a:xfrm>
            <a:off x="457200" y="5404104"/>
            <a:ext cx="7772400" cy="384048"/>
          </a:xfrm>
          <a:prstGeom prst="rect">
            <a:avLst/>
          </a:prstGeom>
          <a:noFill/>
        </p:spPr>
        <p:txBody>
          <a:bodyPr wrap="square">
            <a:normAutofit/>
          </a:bodyPr>
          <a:lstStyle/>
          <a:p>
            <a:pPr algn="l"/>
            <a:r>
              <a:rPr sz="950" b="0" i="0">
                <a:solidFill>
                  <a:srgbClr val="4A5568"/>
                </a:solidFill>
                <a:latin typeface="Calibri"/>
              </a:rPr>
              <a:t>2.  Rebalanceo del modelo cada 90 dias (3 veces en 2025) · solo inferencia, sin re-entrenamiento</a:t>
            </a:r>
          </a:p>
        </p:txBody>
      </p:sp>
      <p:sp>
        <p:nvSpPr>
          <p:cNvPr id="16" name="TextBox 15"/>
          <p:cNvSpPr txBox="1"/>
          <p:nvPr/>
        </p:nvSpPr>
        <p:spPr>
          <a:xfrm>
            <a:off x="457200" y="5824728"/>
            <a:ext cx="7772400" cy="384048"/>
          </a:xfrm>
          <a:prstGeom prst="rect">
            <a:avLst/>
          </a:prstGeom>
          <a:noFill/>
        </p:spPr>
        <p:txBody>
          <a:bodyPr wrap="square">
            <a:normAutofit/>
          </a:bodyPr>
          <a:lstStyle/>
          <a:p>
            <a:pPr algn="l"/>
            <a:r>
              <a:rPr sz="950" b="0" i="0">
                <a:solidFill>
                  <a:srgbClr val="16202E"/>
                </a:solidFill>
                <a:latin typeface="Calibri"/>
              </a:rPr>
              <a:t>3.  Cartera NN: w_i = y_pred_i / sum|y_pred_i| · rebalanceo correctivo cada 21 dias bursatiles</a:t>
            </a:r>
          </a:p>
        </p:txBody>
      </p:sp>
      <p:sp>
        <p:nvSpPr>
          <p:cNvPr id="17" name="TextBox 16"/>
          <p:cNvSpPr txBox="1"/>
          <p:nvPr/>
        </p:nvSpPr>
        <p:spPr>
          <a:xfrm>
            <a:off x="457200" y="6245352"/>
            <a:ext cx="7772400" cy="384048"/>
          </a:xfrm>
          <a:prstGeom prst="rect">
            <a:avLst/>
          </a:prstGeom>
          <a:noFill/>
        </p:spPr>
        <p:txBody>
          <a:bodyPr wrap="square">
            <a:normAutofit/>
          </a:bodyPr>
          <a:lstStyle/>
          <a:p>
            <a:pPr algn="l"/>
            <a:r>
              <a:rPr sz="950" b="0" i="0">
                <a:solidFill>
                  <a:srgbClr val="4A5568"/>
                </a:solidFill>
                <a:latin typeface="Calibri"/>
              </a:rPr>
              <a:t>4.  Buy &amp; Hold: w_i = 1/23 = 4.35% · pesos equiponderados al inicio, se dejan derivar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2C5EA0"/>
                </a:solidFill>
                <a:latin typeface="Consolas"/>
              </a:rPr>
              <a:t>§ 05</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Conclusiones</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16 arquitecturas · 256 entrenamientos · tres hallazgos clave</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57200" y="1536192"/>
            <a:ext cx="11247120" cy="1389888"/>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36192"/>
            <a:ext cx="45720" cy="1389888"/>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27632"/>
            <a:ext cx="502920" cy="438912"/>
          </a:xfrm>
          <a:prstGeom prst="rect">
            <a:avLst/>
          </a:prstGeom>
          <a:noFill/>
        </p:spPr>
        <p:txBody>
          <a:bodyPr wrap="square">
            <a:normAutofit/>
          </a:bodyPr>
          <a:lstStyle/>
          <a:p>
            <a:pPr algn="l"/>
            <a:r>
              <a:rPr sz="2200" b="1" i="0">
                <a:solidFill>
                  <a:srgbClr val="2C5EA0"/>
                </a:solidFill>
                <a:latin typeface="Consolas"/>
              </a:rPr>
              <a:t>1.</a:t>
            </a:r>
          </a:p>
        </p:txBody>
      </p:sp>
      <p:sp>
        <p:nvSpPr>
          <p:cNvPr id="9" name="TextBox 8"/>
          <p:cNvSpPr txBox="1"/>
          <p:nvPr/>
        </p:nvSpPr>
        <p:spPr>
          <a:xfrm>
            <a:off x="1097280" y="1627632"/>
            <a:ext cx="10378440" cy="310896"/>
          </a:xfrm>
          <a:prstGeom prst="rect">
            <a:avLst/>
          </a:prstGeom>
          <a:noFill/>
        </p:spPr>
        <p:txBody>
          <a:bodyPr wrap="square">
            <a:normAutofit/>
          </a:bodyPr>
          <a:lstStyle/>
          <a:p>
            <a:pPr algn="l"/>
            <a:r>
              <a:rPr sz="1300" b="1" i="0">
                <a:solidFill>
                  <a:srgbClr val="16202E"/>
                </a:solidFill>
                <a:latin typeface="Calibri"/>
              </a:rPr>
              <a:t>El colapso al predictor de la media es la respuesta correcta, no un fallo</a:t>
            </a:r>
          </a:p>
        </p:txBody>
      </p:sp>
      <p:sp>
        <p:nvSpPr>
          <p:cNvPr id="10" name="TextBox 9"/>
          <p:cNvSpPr txBox="1"/>
          <p:nvPr/>
        </p:nvSpPr>
        <p:spPr>
          <a:xfrm>
            <a:off x="1097280" y="1956816"/>
            <a:ext cx="10378440" cy="877824"/>
          </a:xfrm>
          <a:prstGeom prst="rect">
            <a:avLst/>
          </a:prstGeom>
          <a:noFill/>
        </p:spPr>
        <p:txBody>
          <a:bodyPr wrap="square">
            <a:normAutofit/>
          </a:bodyPr>
          <a:lstStyle/>
          <a:p>
            <a:pPr algn="l"/>
            <a:r>
              <a:rPr sz="1050" b="0" i="0">
                <a:solidFill>
                  <a:srgbClr val="4A5568"/>
                </a:solidFill>
                <a:latin typeface="Calibri"/>
              </a:rPr>
              <a:t>Bajo MAE y log-retornos eficientes (ruido blanco ~ martingala), el estimador optimo es la media incondicional aprox. 0. Todas las arquitecturas lo descubren empiricamente. El techo no es del modelo — es del problema.</a:t>
            </a:r>
          </a:p>
        </p:txBody>
      </p:sp>
      <p:sp>
        <p:nvSpPr>
          <p:cNvPr id="11" name="Rectangle 10"/>
          <p:cNvSpPr/>
          <p:nvPr/>
        </p:nvSpPr>
        <p:spPr>
          <a:xfrm>
            <a:off x="457200" y="3017520"/>
            <a:ext cx="11247120" cy="1389888"/>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017520"/>
            <a:ext cx="45720" cy="1389888"/>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108960"/>
            <a:ext cx="502920" cy="438912"/>
          </a:xfrm>
          <a:prstGeom prst="rect">
            <a:avLst/>
          </a:prstGeom>
          <a:noFill/>
        </p:spPr>
        <p:txBody>
          <a:bodyPr wrap="square">
            <a:normAutofit/>
          </a:bodyPr>
          <a:lstStyle/>
          <a:p>
            <a:pPr algn="l"/>
            <a:r>
              <a:rPr sz="2200" b="1" i="0">
                <a:solidFill>
                  <a:srgbClr val="2C5EA0"/>
                </a:solidFill>
                <a:latin typeface="Consolas"/>
              </a:rPr>
              <a:t>2.</a:t>
            </a:r>
          </a:p>
        </p:txBody>
      </p:sp>
      <p:sp>
        <p:nvSpPr>
          <p:cNvPr id="14" name="TextBox 13"/>
          <p:cNvSpPr txBox="1"/>
          <p:nvPr/>
        </p:nvSpPr>
        <p:spPr>
          <a:xfrm>
            <a:off x="1097280" y="3108960"/>
            <a:ext cx="10378440" cy="310896"/>
          </a:xfrm>
          <a:prstGeom prst="rect">
            <a:avLst/>
          </a:prstGeom>
          <a:noFill/>
        </p:spPr>
        <p:txBody>
          <a:bodyPr wrap="square">
            <a:normAutofit/>
          </a:bodyPr>
          <a:lstStyle/>
          <a:p>
            <a:pPr algn="l"/>
            <a:r>
              <a:rPr sz="1300" b="1" i="0">
                <a:solidFill>
                  <a:srgbClr val="16202E"/>
                </a:solidFill>
                <a:latin typeface="Calibri"/>
              </a:rPr>
              <a:t>La regresion lineal con 2 668 params iguala a cualquier red neuronal</a:t>
            </a:r>
          </a:p>
        </p:txBody>
      </p:sp>
      <p:sp>
        <p:nvSpPr>
          <p:cNvPr id="15" name="TextBox 14"/>
          <p:cNvSpPr txBox="1"/>
          <p:nvPr/>
        </p:nvSpPr>
        <p:spPr>
          <a:xfrm>
            <a:off x="1097280" y="3438144"/>
            <a:ext cx="10378440" cy="877824"/>
          </a:xfrm>
          <a:prstGeom prst="rect">
            <a:avLst/>
          </a:prstGeom>
          <a:noFill/>
        </p:spPr>
        <p:txBody>
          <a:bodyPr wrap="square">
            <a:normAutofit/>
          </a:bodyPr>
          <a:lstStyle/>
          <a:p>
            <a:pPr algn="l"/>
            <a:r>
              <a:rPr sz="1050" b="0" i="0">
                <a:solidFill>
                  <a:srgbClr val="4A5568"/>
                </a:solidFill>
                <a:latin typeface="Calibri"/>
              </a:rPr>
              <a:t>SimpleRNN (2 551), BiLSTM+Conv (14 615), MLP (45 719) — todos obtienen el mismo MAE que lineal(V_in=5) en 3 de 4 horizontes. Mas capacidad no compra senal cuando el input es ruido.</a:t>
            </a:r>
          </a:p>
        </p:txBody>
      </p:sp>
      <p:sp>
        <p:nvSpPr>
          <p:cNvPr id="16" name="Rectangle 15"/>
          <p:cNvSpPr/>
          <p:nvPr/>
        </p:nvSpPr>
        <p:spPr>
          <a:xfrm>
            <a:off x="457200" y="4498848"/>
            <a:ext cx="11247120" cy="1389888"/>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98848"/>
            <a:ext cx="45720" cy="1389888"/>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590288"/>
            <a:ext cx="502920" cy="438912"/>
          </a:xfrm>
          <a:prstGeom prst="rect">
            <a:avLst/>
          </a:prstGeom>
          <a:noFill/>
        </p:spPr>
        <p:txBody>
          <a:bodyPr wrap="square">
            <a:normAutofit/>
          </a:bodyPr>
          <a:lstStyle/>
          <a:p>
            <a:pPr algn="l"/>
            <a:r>
              <a:rPr sz="2200" b="1" i="0">
                <a:solidFill>
                  <a:srgbClr val="2C5EA0"/>
                </a:solidFill>
                <a:latin typeface="Consolas"/>
              </a:rPr>
              <a:t>3.</a:t>
            </a:r>
          </a:p>
        </p:txBody>
      </p:sp>
      <p:sp>
        <p:nvSpPr>
          <p:cNvPr id="19" name="TextBox 18"/>
          <p:cNvSpPr txBox="1"/>
          <p:nvPr/>
        </p:nvSpPr>
        <p:spPr>
          <a:xfrm>
            <a:off x="1097280" y="4590288"/>
            <a:ext cx="10378440" cy="310896"/>
          </a:xfrm>
          <a:prstGeom prst="rect">
            <a:avLst/>
          </a:prstGeom>
          <a:noFill/>
        </p:spPr>
        <p:txBody>
          <a:bodyPr wrap="square">
            <a:normAutofit/>
          </a:bodyPr>
          <a:lstStyle/>
          <a:p>
            <a:pPr algn="l"/>
            <a:r>
              <a:rPr sz="1300" b="1" i="0">
                <a:solidFill>
                  <a:srgbClr val="16202E"/>
                </a:solidFill>
                <a:latin typeface="Calibri"/>
              </a:rPr>
              <a:t>FFD(d=0.2) rompe el techo en V_out=1d (−8.9%), pero empeora en V_out &gt;= 30d (+45.8%)</a:t>
            </a:r>
          </a:p>
        </p:txBody>
      </p:sp>
      <p:sp>
        <p:nvSpPr>
          <p:cNvPr id="20" name="TextBox 19"/>
          <p:cNvSpPr txBox="1"/>
          <p:nvPr/>
        </p:nvSpPr>
        <p:spPr>
          <a:xfrm>
            <a:off x="1097280" y="4919472"/>
            <a:ext cx="10378440" cy="877824"/>
          </a:xfrm>
          <a:prstGeom prst="rect">
            <a:avLst/>
          </a:prstGeom>
          <a:noFill/>
        </p:spPr>
        <p:txBody>
          <a:bodyPr wrap="square">
            <a:normAutofit/>
          </a:bodyPr>
          <a:lstStyle/>
          <a:p>
            <a:pPr algn="l"/>
            <a:r>
              <a:rPr sz="1050" b="0" i="0">
                <a:solidFill>
                  <a:srgbClr val="4A5568"/>
                </a:solidFill>
                <a:latin typeface="Calibri"/>
              </a:rPr>
              <a:t>La memoria fraccional solo es util en el horizonte muy corto. El preprocesado optimo depende del horizonte; la senal disponible es el verdadero cuello de botella.</a:t>
            </a:r>
          </a:p>
        </p:txBody>
      </p:sp>
      <p:sp>
        <p:nvSpPr>
          <p:cNvPr id="21" name="Rectangle 20"/>
          <p:cNvSpPr/>
          <p:nvPr/>
        </p:nvSpPr>
        <p:spPr>
          <a:xfrm>
            <a:off x="457200" y="5989320"/>
            <a:ext cx="11247120" cy="731520"/>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5989320"/>
            <a:ext cx="11247120" cy="36576"/>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6062472"/>
            <a:ext cx="10972800" cy="237744"/>
          </a:xfrm>
          <a:prstGeom prst="rect">
            <a:avLst/>
          </a:prstGeom>
          <a:noFill/>
        </p:spPr>
        <p:txBody>
          <a:bodyPr wrap="square">
            <a:normAutofit/>
          </a:bodyPr>
          <a:lstStyle/>
          <a:p>
            <a:pPr algn="l"/>
            <a:r>
              <a:rPr sz="800" b="1" i="0">
                <a:solidFill>
                  <a:srgbClr val="2C5EA0"/>
                </a:solidFill>
                <a:latin typeface="Consolas"/>
              </a:rPr>
              <a:t>LECCION CENTRAL DEL TALLER</a:t>
            </a:r>
          </a:p>
        </p:txBody>
      </p:sp>
      <p:sp>
        <p:nvSpPr>
          <p:cNvPr id="24" name="TextBox 23"/>
          <p:cNvSpPr txBox="1"/>
          <p:nvPr/>
        </p:nvSpPr>
        <p:spPr>
          <a:xfrm>
            <a:off x="594360" y="6300216"/>
            <a:ext cx="10972800" cy="384048"/>
          </a:xfrm>
          <a:prstGeom prst="rect">
            <a:avLst/>
          </a:prstGeom>
          <a:noFill/>
        </p:spPr>
        <p:txBody>
          <a:bodyPr wrap="square">
            <a:normAutofit/>
          </a:bodyPr>
          <a:lstStyle/>
          <a:p>
            <a:pPr algn="l"/>
            <a:r>
              <a:rPr sz="1000" b="0" i="0">
                <a:solidFill>
                  <a:srgbClr val="16202E"/>
                </a:solidFill>
                <a:latin typeface="Calibri"/>
              </a:rPr>
              <a:t>Los 256 experimentos demuestran empiricamente lo que la EMH predice teoricamente: no hay senal extraible de los retornos pasados que permita superar la media de forma consistente. La unica mejora real vino de cambiar QUE informacion entra al modelo (FFD). El cuello de botella es siempre la senal — nunca la arquitectura.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430000" cy="274320"/>
          </a:xfrm>
          <a:prstGeom prst="rect">
            <a:avLst/>
          </a:prstGeom>
          <a:noFill/>
        </p:spPr>
        <p:txBody>
          <a:bodyPr wrap="square">
            <a:normAutofit/>
          </a:bodyPr>
          <a:lstStyle/>
          <a:p>
            <a:pPr algn="l"/>
            <a:r>
              <a:rPr sz="900" b="1" i="0">
                <a:solidFill>
                  <a:srgbClr val="2C5EA0"/>
                </a:solidFill>
                <a:latin typeface="Consolas"/>
              </a:rPr>
              <a:t>§ 05</a:t>
            </a:r>
          </a:p>
        </p:txBody>
      </p:sp>
      <p:sp>
        <p:nvSpPr>
          <p:cNvPr id="3" name="TextBox 2"/>
          <p:cNvSpPr txBox="1"/>
          <p:nvPr/>
        </p:nvSpPr>
        <p:spPr>
          <a:xfrm>
            <a:off x="457200" y="475488"/>
            <a:ext cx="11430000" cy="594360"/>
          </a:xfrm>
          <a:prstGeom prst="rect">
            <a:avLst/>
          </a:prstGeom>
          <a:noFill/>
        </p:spPr>
        <p:txBody>
          <a:bodyPr wrap="square">
            <a:normAutofit/>
          </a:bodyPr>
          <a:lstStyle/>
          <a:p>
            <a:pPr algn="l"/>
            <a:r>
              <a:rPr sz="2400" b="1" i="0">
                <a:solidFill>
                  <a:srgbClr val="16202E"/>
                </a:solidFill>
                <a:latin typeface="Calibri"/>
              </a:rPr>
              <a:t>Que Hariamos Diferente?</a:t>
            </a:r>
          </a:p>
        </p:txBody>
      </p:sp>
      <p:sp>
        <p:nvSpPr>
          <p:cNvPr id="4" name="TextBox 3"/>
          <p:cNvSpPr txBox="1"/>
          <p:nvPr/>
        </p:nvSpPr>
        <p:spPr>
          <a:xfrm>
            <a:off x="457200" y="1051560"/>
            <a:ext cx="11430000" cy="347472"/>
          </a:xfrm>
          <a:prstGeom prst="rect">
            <a:avLst/>
          </a:prstGeom>
          <a:noFill/>
        </p:spPr>
        <p:txBody>
          <a:bodyPr wrap="square">
            <a:normAutofit/>
          </a:bodyPr>
          <a:lstStyle/>
          <a:p>
            <a:pPr algn="l"/>
            <a:r>
              <a:rPr sz="1000" b="0" i="0">
                <a:solidFill>
                  <a:srgbClr val="7A8FA5"/>
                </a:solidFill>
                <a:latin typeface="Calibri"/>
              </a:rPr>
              <a:t>Limitaciones actuales y alternativas hacia senal real</a:t>
            </a:r>
          </a:p>
        </p:txBody>
      </p:sp>
      <p:cxnSp>
        <p:nvCxnSpPr>
          <p:cNvPr id="5" name="Connector 4"/>
          <p:cNvCxnSpPr/>
          <p:nvPr/>
        </p:nvCxnSpPr>
        <p:spPr>
          <a:xfrm>
            <a:off x="457200" y="1417320"/>
            <a:ext cx="11274552" cy="0"/>
          </a:xfrm>
          <a:prstGeom prst="line">
            <a:avLst/>
          </a:prstGeom>
          <a:ln w="9525">
            <a:solidFill>
              <a:srgbClr val="DCE3EA"/>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457200" y="1508760"/>
          <a:ext cx="11247120" cy="3858768"/>
        </p:xfrm>
        <a:graphic>
          <a:graphicData uri="http://schemas.openxmlformats.org/drawingml/2006/table">
            <a:tbl>
              <a:tblPr firstRow="1" bandRow="1">
                <a:tableStyleId>{5C22544A-7EE6-4342-B048-85BDC9FD1C3A}</a:tableStyleId>
              </a:tblPr>
              <a:tblGrid>
                <a:gridCol w="2560320"/>
                <a:gridCol w="3154680"/>
                <a:gridCol w="5532120"/>
              </a:tblGrid>
              <a:tr h="551252">
                <a:tc>
                  <a:txBody>
                    <a:bodyPr/>
                    <a:lstStyle/>
                    <a:p>
                      <a:pPr algn="l"/>
                      <a:r>
                        <a:rPr sz="900" b="1">
                          <a:solidFill>
                            <a:srgbClr val="FFFFFF"/>
                          </a:solidFill>
                          <a:latin typeface="Calibri"/>
                        </a:rPr>
                        <a:t>Limitacion actual</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Alternativa</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900" b="1">
                          <a:solidFill>
                            <a:srgbClr val="FFFFFF"/>
                          </a:solidFill>
                          <a:latin typeface="Calibri"/>
                        </a:rPr>
                        <a:t>Por que mejora</a:t>
                      </a:r>
                    </a:p>
                  </a:txBody>
                  <a:tcPr>
                    <a:solidFill>
                      <a:srgbClr val="16202E"/>
                    </a:solidFill>
                    <a:lnL w="6350">
                      <a:solidFill>
                        <a:srgbClr val="DCE3EA"/>
                      </a:solidFill>
                    </a:lnL>
                    <a:lnR w="6350">
                      <a:solidFill>
                        <a:srgbClr val="DCE3EA"/>
                      </a:solidFill>
                    </a:lnR>
                    <a:lnT w="6350">
                      <a:solidFill>
                        <a:srgbClr val="DCE3EA"/>
                      </a:solidFill>
                    </a:lnT>
                    <a:lnB w="6350">
                      <a:solidFill>
                        <a:srgbClr val="DCE3EA"/>
                      </a:solidFill>
                    </a:lnB>
                  </a:tcPr>
                </a:tc>
              </a:tr>
              <a:tr h="551252">
                <a:tc>
                  <a:txBody>
                    <a:bodyPr/>
                    <a:lstStyle/>
                    <a:p>
                      <a:pPr algn="l"/>
                      <a:r>
                        <a:rPr sz="1050" b="0">
                          <a:solidFill>
                            <a:srgbClr val="16202E"/>
                          </a:solidFill>
                          <a:latin typeface="Calibri"/>
                        </a:rPr>
                        <a:t>Regresion del nivel (MAE)</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Clasificacion de direccion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Cross-entropy no colapsa a la media bajo EMH debil; maximiza informacion de direccion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551252">
                <a:tc>
                  <a:txBody>
                    <a:bodyPr/>
                    <a:lstStyle/>
                    <a:p>
                      <a:pPr algn="l"/>
                      <a:r>
                        <a:rPr sz="1050" b="0">
                          <a:solidFill>
                            <a:srgbClr val="16202E"/>
                          </a:solidFill>
                          <a:latin typeface="Calibri"/>
                        </a:rPr>
                        <a:t>Solo log-retornos como input</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VIX + datos macro (ISM, CPI)</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Features exogenos con autocorrelacion real; rompen la hipotesis de ruido blanco</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551252">
                <a:tc>
                  <a:txBody>
                    <a:bodyPr/>
                    <a:lstStyle/>
                    <a:p>
                      <a:pPr algn="l"/>
                      <a:r>
                        <a:rPr sz="1050" b="0">
                          <a:solidFill>
                            <a:srgbClr val="16202E"/>
                          </a:solidFill>
                          <a:latin typeface="Calibri"/>
                        </a:rPr>
                        <a:t>Ventana fija V_in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Atencion (Transformer)</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Aprende que dias del pasado importan; V_in variable sin perdida de informacion</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551252">
                <a:tc>
                  <a:txBody>
                    <a:bodyPr/>
                    <a:lstStyle/>
                    <a:p>
                      <a:pPr algn="l"/>
                      <a:r>
                        <a:rPr sz="1050" b="0">
                          <a:solidFill>
                            <a:srgbClr val="16202E"/>
                          </a:solidFill>
                          <a:latin typeface="Calibri"/>
                        </a:rPr>
                        <a:t>Retornos crudos para V_out=1d</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FFD(d=0.2) solo para V_out=1d</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Unica mejora confirmada empiricamente; preservar para horizontes cortos</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r h="551252">
                <a:tc>
                  <a:txBody>
                    <a:bodyPr/>
                    <a:lstStyle/>
                    <a:p>
                      <a:pPr algn="l"/>
                      <a:r>
                        <a:rPr sz="1050" b="0">
                          <a:solidFill>
                            <a:srgbClr val="16202E"/>
                          </a:solidFill>
                          <a:latin typeface="Calibri"/>
                        </a:rPr>
                        <a:t>Pesos fijos 90 dias</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Rebalanceo mensual con senal actualizada</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Explotar variacion temporal de los pesos predichos del modelo</a:t>
                      </a:r>
                    </a:p>
                  </a:txBody>
                  <a:tcPr>
                    <a:solidFill>
                      <a:srgbClr val="FFFFFF"/>
                    </a:solidFill>
                    <a:lnL w="6350">
                      <a:solidFill>
                        <a:srgbClr val="DCE3EA"/>
                      </a:solidFill>
                    </a:lnL>
                    <a:lnR w="6350">
                      <a:solidFill>
                        <a:srgbClr val="DCE3EA"/>
                      </a:solidFill>
                    </a:lnR>
                    <a:lnT w="6350">
                      <a:solidFill>
                        <a:srgbClr val="DCE3EA"/>
                      </a:solidFill>
                    </a:lnT>
                    <a:lnB w="6350">
                      <a:solidFill>
                        <a:srgbClr val="DCE3EA"/>
                      </a:solidFill>
                    </a:lnB>
                  </a:tcPr>
                </a:tc>
              </a:tr>
              <a:tr h="551256">
                <a:tc>
                  <a:txBody>
                    <a:bodyPr/>
                    <a:lstStyle/>
                    <a:p>
                      <a:pPr algn="l"/>
                      <a:r>
                        <a:rPr sz="1050" b="0">
                          <a:solidFill>
                            <a:srgbClr val="16202E"/>
                          </a:solidFill>
                          <a:latin typeface="Calibri"/>
                        </a:rPr>
                        <a:t>Sin gestion de riesgo</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Restriccion de MaxDD / vol targeting</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c>
                  <a:txBody>
                    <a:bodyPr/>
                    <a:lstStyle/>
                    <a:p>
                      <a:pPr algn="ctr"/>
                      <a:r>
                        <a:rPr sz="1050" b="0">
                          <a:solidFill>
                            <a:srgbClr val="16202E"/>
                          </a:solidFill>
                          <a:latin typeface="Calibri"/>
                        </a:rPr>
                        <a:t>Control de drawdown sin sacrificar retorno esperado</a:t>
                      </a:r>
                    </a:p>
                  </a:txBody>
                  <a:tcPr>
                    <a:solidFill>
                      <a:srgbClr val="F0F3F6"/>
                    </a:solidFill>
                    <a:lnL w="6350">
                      <a:solidFill>
                        <a:srgbClr val="DCE3EA"/>
                      </a:solidFill>
                    </a:lnL>
                    <a:lnR w="6350">
                      <a:solidFill>
                        <a:srgbClr val="DCE3EA"/>
                      </a:solidFill>
                    </a:lnR>
                    <a:lnT w="6350">
                      <a:solidFill>
                        <a:srgbClr val="DCE3EA"/>
                      </a:solidFill>
                    </a:lnT>
                    <a:lnB w="6350">
                      <a:solidFill>
                        <a:srgbClr val="DCE3EA"/>
                      </a:solidFill>
                    </a:lnB>
                  </a:tcPr>
                </a:tc>
              </a:tr>
            </a:tbl>
          </a:graphicData>
        </a:graphic>
      </p:graphicFrame>
      <p:sp>
        <p:nvSpPr>
          <p:cNvPr id="7" name="Rectangle 6"/>
          <p:cNvSpPr/>
          <p:nvPr/>
        </p:nvSpPr>
        <p:spPr>
          <a:xfrm>
            <a:off x="457200" y="5468112"/>
            <a:ext cx="11247120" cy="1234440"/>
          </a:xfrm>
          <a:prstGeom prst="rect">
            <a:avLst/>
          </a:prstGeom>
          <a:solidFill>
            <a:srgbClr val="F0F3F6"/>
          </a:solidFill>
          <a:ln w="9525">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5468112"/>
            <a:ext cx="11247120" cy="36576"/>
          </a:xfrm>
          <a:prstGeom prst="rect">
            <a:avLst/>
          </a:prstGeom>
          <a:solidFill>
            <a:srgbClr val="2C5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5541264"/>
            <a:ext cx="10972800" cy="237744"/>
          </a:xfrm>
          <a:prstGeom prst="rect">
            <a:avLst/>
          </a:prstGeom>
          <a:noFill/>
        </p:spPr>
        <p:txBody>
          <a:bodyPr wrap="square">
            <a:normAutofit/>
          </a:bodyPr>
          <a:lstStyle/>
          <a:p>
            <a:pPr algn="l"/>
            <a:r>
              <a:rPr sz="800" b="1" i="0">
                <a:solidFill>
                  <a:srgbClr val="2C5EA0"/>
                </a:solidFill>
                <a:latin typeface="Consolas"/>
              </a:rPr>
              <a:t>RESUMEN — LA ARQUITECTURA ES LO DE MENOS</a:t>
            </a:r>
          </a:p>
        </p:txBody>
      </p:sp>
      <p:sp>
        <p:nvSpPr>
          <p:cNvPr id="10" name="TextBox 9"/>
          <p:cNvSpPr txBox="1"/>
          <p:nvPr/>
        </p:nvSpPr>
        <p:spPr>
          <a:xfrm>
            <a:off x="594360" y="5779008"/>
            <a:ext cx="10972800" cy="886968"/>
          </a:xfrm>
          <a:prstGeom prst="rect">
            <a:avLst/>
          </a:prstGeom>
          <a:noFill/>
        </p:spPr>
        <p:txBody>
          <a:bodyPr wrap="square">
            <a:normAutofit/>
          </a:bodyPr>
          <a:lstStyle/>
          <a:p>
            <a:pPr algn="l"/>
            <a:r>
              <a:rPr sz="1000" b="0" i="0">
                <a:solidFill>
                  <a:srgbClr val="16202E"/>
                </a:solidFill>
                <a:latin typeface="Calibri"/>
              </a:rPr>
              <a:t>Este taller demuestra que en finanzas el valor esta en: (1) la calidad del input (que informacion), (2) la formulacion del problema (regresion vs. clasificacion), (3) el control del overfitting temporal (walk-forward, no shuffle). Arquitecturas mas complejas solo ayudan cuando ya hay senal que capturar.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